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media/image15.svg" ContentType="image/svg+xml"/>
  <Override PartName="/ppt/media/image17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8" r:id="rId23"/>
    <p:sldId id="277" r:id="rId24"/>
    <p:sldId id="279" r:id="rId26"/>
    <p:sldId id="280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281" r:id="rId64"/>
    <p:sldId id="282" r:id="rId65"/>
    <p:sldId id="283" r:id="rId66"/>
    <p:sldId id="284" r:id="rId67"/>
    <p:sldId id="286" r:id="rId68"/>
    <p:sldId id="287" r:id="rId69"/>
    <p:sldId id="285" r:id="rId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_rels/data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svg"/><Relationship Id="rId7" Type="http://schemas.openxmlformats.org/officeDocument/2006/relationships/image" Target="../media/image67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Relationship Id="rId3" Type="http://schemas.openxmlformats.org/officeDocument/2006/relationships/image" Target="../media/image63.png"/><Relationship Id="rId2" Type="http://schemas.openxmlformats.org/officeDocument/2006/relationships/image" Target="../media/image62.svg"/><Relationship Id="rId12" Type="http://schemas.openxmlformats.org/officeDocument/2006/relationships/image" Target="../media/image72.svg"/><Relationship Id="rId11" Type="http://schemas.openxmlformats.org/officeDocument/2006/relationships/image" Target="../media/image71.png"/><Relationship Id="rId10" Type="http://schemas.openxmlformats.org/officeDocument/2006/relationships/image" Target="../media/image70.svg"/><Relationship Id="rId1" Type="http://schemas.openxmlformats.org/officeDocument/2006/relationships/image" Target="../media/image61.png"/></Relationships>
</file>

<file path=ppt/diagrams/_rels/drawing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svg"/><Relationship Id="rId7" Type="http://schemas.openxmlformats.org/officeDocument/2006/relationships/image" Target="../media/image67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Relationship Id="rId3" Type="http://schemas.openxmlformats.org/officeDocument/2006/relationships/image" Target="../media/image63.png"/><Relationship Id="rId2" Type="http://schemas.openxmlformats.org/officeDocument/2006/relationships/image" Target="../media/image62.svg"/><Relationship Id="rId12" Type="http://schemas.openxmlformats.org/officeDocument/2006/relationships/image" Target="../media/image72.svg"/><Relationship Id="rId11" Type="http://schemas.openxmlformats.org/officeDocument/2006/relationships/image" Target="../media/image71.png"/><Relationship Id="rId10" Type="http://schemas.openxmlformats.org/officeDocument/2006/relationships/image" Target="../media/image70.svg"/><Relationship Id="rId1" Type="http://schemas.openxmlformats.org/officeDocument/2006/relationships/image" Target="../media/image6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CAB1C5-57F8-4F23-B323-F950DE38CDB1}" type="doc">
      <dgm:prSet loTypeId="urn:microsoft.com/office/officeart/2005/8/layout/hierarchy1" loCatId="hierarchy" qsTypeId="urn:microsoft.com/office/officeart/2005/8/quickstyle/simple1#16" qsCatId="simple" csTypeId="urn:microsoft.com/office/officeart/2005/8/colors/accent1_2#9" csCatId="accent1" phldr="1"/>
      <dgm:spPr/>
      <dgm:t>
        <a:bodyPr/>
        <a:lstStyle/>
        <a:p>
          <a:endParaRPr lang="en-US"/>
        </a:p>
      </dgm:t>
    </dgm:pt>
    <dgm:pt modelId="{003DFED4-CC78-43EE-9381-69F156C25BDD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b="1" dirty="0">
              <a:latin typeface="Arial(body)"/>
            </a:rPr>
            <a:t>The Vapi–</a:t>
          </a:r>
          <a:r>
            <a:rPr lang="en-IN" b="1" dirty="0" err="1">
              <a:latin typeface="Arial(body)"/>
            </a:rPr>
            <a:t>Ankleshwar</a:t>
          </a:r>
          <a:r>
            <a:rPr lang="en-IN" b="1" dirty="0">
              <a:latin typeface="Arial(body)"/>
            </a:rPr>
            <a:t>–</a:t>
          </a:r>
          <a:r>
            <a:rPr lang="en-IN" b="1" dirty="0" err="1">
              <a:latin typeface="Arial(body)"/>
            </a:rPr>
            <a:t>Vatva</a:t>
          </a:r>
          <a:r>
            <a:rPr lang="en-IN" b="1" dirty="0">
              <a:latin typeface="Arial(body)"/>
            </a:rPr>
            <a:t> Golden Corridor has a high concentration of chemical, pharmaceutical and manufacturing industries, creating risks of air pollution, industrial effluents, chemical contamination, high COD/BOD, PM2.5/PM10, SO₂/NO₂, abnormal pH and high TDS.</a:t>
          </a:r>
          <a:r>
            <a:rPr lang="en-IN" b="1" dirty="0">
              <a:latin typeface="Arial(body)"/>
            </a:rPr>
            <a:t/>
          </a:r>
          <a:endParaRPr lang="en-IN" b="1" dirty="0">
            <a:latin typeface="Arial(body)"/>
          </a:endParaRPr>
        </a:p>
      </dgm:t>
    </dgm:pt>
    <dgm:pt modelId="{BD3332F5-5F49-4835-9AB7-940F5708B6E0}" cxnId="{C5EA3C68-2F51-424B-AB95-AFF980715D87}" type="parTrans">
      <dgm:prSet/>
      <dgm:spPr/>
      <dgm:t>
        <a:bodyPr/>
        <a:lstStyle/>
        <a:p>
          <a:endParaRPr lang="en-US"/>
        </a:p>
      </dgm:t>
    </dgm:pt>
    <dgm:pt modelId="{500CACFC-3E66-4000-AC2E-282DA9E030F0}" cxnId="{C5EA3C68-2F51-424B-AB95-AFF980715D87}" type="sibTrans">
      <dgm:prSet/>
      <dgm:spPr/>
      <dgm:t>
        <a:bodyPr/>
        <a:lstStyle/>
        <a:p>
          <a:endParaRPr lang="en-US"/>
        </a:p>
      </dgm:t>
    </dgm:pt>
    <dgm:pt modelId="{F03BC117-8981-47F1-8745-3DFC40BDD4C9}">
      <dgm:prSet/>
      <dgm:spPr/>
      <dgm:t>
        <a:bodyPr/>
        <a:lstStyle/>
        <a:p>
          <a:r>
            <a:rPr lang="en-IN" b="1" dirty="0">
              <a:latin typeface="Arial(body)"/>
            </a:rPr>
            <a:t>Current monitoring often relies on periodic inspections and manual reporting, leading to delayed pollution detection, limited real-time visibility, difficulty monitoring multiple industries, slow regulatory response, manual compliance reporting and limited public-health risk assessment.</a:t>
          </a:r>
          <a:endParaRPr lang="en-US" b="1" dirty="0">
            <a:latin typeface="Arial(body)"/>
          </a:endParaRPr>
        </a:p>
      </dgm:t>
    </dgm:pt>
    <dgm:pt modelId="{55476ADB-24CF-4A7A-B22A-819A17B354E8}" cxnId="{FC609DEF-A6FC-4659-8CBF-4123A055FF58}" type="parTrans">
      <dgm:prSet/>
      <dgm:spPr/>
      <dgm:t>
        <a:bodyPr/>
        <a:lstStyle/>
        <a:p>
          <a:endParaRPr lang="en-US"/>
        </a:p>
      </dgm:t>
    </dgm:pt>
    <dgm:pt modelId="{A55746CA-46A4-4E6A-A4AE-8B3CA749BA73}" cxnId="{FC609DEF-A6FC-4659-8CBF-4123A055FF58}" type="sibTrans">
      <dgm:prSet/>
      <dgm:spPr/>
      <dgm:t>
        <a:bodyPr/>
        <a:lstStyle/>
        <a:p>
          <a:endParaRPr lang="en-US"/>
        </a:p>
      </dgm:t>
    </dgm:pt>
    <dgm:pt modelId="{75FFD621-698D-4E0C-A5F4-6561431EC0A5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500" b="1" dirty="0">
              <a:latin typeface="Arial(body)"/>
            </a:rPr>
            <a:t>Therefore, an intelligent and continuous monitoring system is needed to detect pollution in real time, identify violations, assess risks and support faster regulatory action.</a:t>
          </a:r>
          <a:r>
            <a:rPr lang="en-IN" sz="1500" b="1" dirty="0">
              <a:latin typeface="Arial(body)"/>
            </a:rPr>
            <a:t/>
          </a:r>
          <a:endParaRPr lang="en-IN" sz="1500" b="1" dirty="0">
            <a:latin typeface="Arial(body)"/>
          </a:endParaRPr>
        </a:p>
      </dgm:t>
    </dgm:pt>
    <dgm:pt modelId="{F97F7BD4-4EE5-4EDF-A987-B972B9C935A2}" cxnId="{45FE5C4E-4715-4DD7-BAC3-892C9AFA815D}" type="parTrans">
      <dgm:prSet/>
      <dgm:spPr/>
      <dgm:t>
        <a:bodyPr/>
        <a:lstStyle/>
        <a:p>
          <a:endParaRPr lang="en-US"/>
        </a:p>
      </dgm:t>
    </dgm:pt>
    <dgm:pt modelId="{D114EACF-6A4F-4343-A3D6-B9E9747426B1}" cxnId="{45FE5C4E-4715-4DD7-BAC3-892C9AFA815D}" type="sibTrans">
      <dgm:prSet/>
      <dgm:spPr/>
      <dgm:t>
        <a:bodyPr/>
        <a:lstStyle/>
        <a:p>
          <a:endParaRPr lang="en-US"/>
        </a:p>
      </dgm:t>
    </dgm:pt>
    <dgm:pt modelId="{FCF3E84B-7DE2-46F1-AD85-1F7572F39F6C}" type="pres">
      <dgm:prSet presAssocID="{80CAB1C5-57F8-4F23-B323-F950DE38CD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E27DE07-1B1D-4FCB-A1AF-EAEF94E0291E}" type="pres">
      <dgm:prSet presAssocID="{003DFED4-CC78-43EE-9381-69F156C25BDD}" presName="hierRoot1" presStyleCnt="0"/>
      <dgm:spPr/>
    </dgm:pt>
    <dgm:pt modelId="{DFAA5900-7DFC-46E4-AE22-82E45CF50DD5}" type="pres">
      <dgm:prSet presAssocID="{003DFED4-CC78-43EE-9381-69F156C25BDD}" presName="composite" presStyleCnt="0"/>
      <dgm:spPr/>
    </dgm:pt>
    <dgm:pt modelId="{6FE7C54A-B697-4CE7-953B-0A07BB09D1FB}" type="pres">
      <dgm:prSet presAssocID="{003DFED4-CC78-43EE-9381-69F156C25BDD}" presName="background" presStyleLbl="node0" presStyleIdx="0" presStyleCnt="3"/>
      <dgm:spPr/>
    </dgm:pt>
    <dgm:pt modelId="{425D05E8-F253-4413-B22F-9C066CDFCD68}" type="pres">
      <dgm:prSet presAssocID="{003DFED4-CC78-43EE-9381-69F156C25BDD}" presName="text" presStyleLbl="fgAcc0" presStyleIdx="0" presStyleCnt="3" custScaleX="111366" custScaleY="122902">
        <dgm:presLayoutVars>
          <dgm:chPref val="3"/>
        </dgm:presLayoutVars>
      </dgm:prSet>
      <dgm:spPr/>
    </dgm:pt>
    <dgm:pt modelId="{42E922BF-9A71-430C-92F3-366E68C906D4}" type="pres">
      <dgm:prSet presAssocID="{003DFED4-CC78-43EE-9381-69F156C25BDD}" presName="hierChild2" presStyleCnt="0"/>
      <dgm:spPr/>
    </dgm:pt>
    <dgm:pt modelId="{92124634-7BCD-4205-8E8B-8B0D40044FDA}" type="pres">
      <dgm:prSet presAssocID="{F03BC117-8981-47F1-8745-3DFC40BDD4C9}" presName="hierRoot1" presStyleCnt="0"/>
      <dgm:spPr/>
    </dgm:pt>
    <dgm:pt modelId="{116CFA02-8448-46A1-83F7-C4700FD0E85B}" type="pres">
      <dgm:prSet presAssocID="{F03BC117-8981-47F1-8745-3DFC40BDD4C9}" presName="composite" presStyleCnt="0"/>
      <dgm:spPr/>
    </dgm:pt>
    <dgm:pt modelId="{6B206D4A-B468-4443-B834-A9600469922F}" type="pres">
      <dgm:prSet presAssocID="{F03BC117-8981-47F1-8745-3DFC40BDD4C9}" presName="background" presStyleLbl="node0" presStyleIdx="1" presStyleCnt="3"/>
      <dgm:spPr/>
    </dgm:pt>
    <dgm:pt modelId="{EA8DC4AA-1AD0-4A63-B30B-BFF748426C0B}" type="pres">
      <dgm:prSet presAssocID="{F03BC117-8981-47F1-8745-3DFC40BDD4C9}" presName="text" presStyleLbl="fgAcc0" presStyleIdx="1" presStyleCnt="3" custScaleX="113941" custScaleY="128397">
        <dgm:presLayoutVars>
          <dgm:chPref val="3"/>
        </dgm:presLayoutVars>
      </dgm:prSet>
      <dgm:spPr/>
    </dgm:pt>
    <dgm:pt modelId="{02D2108B-43F2-4AA2-B185-ECE5ED71E72E}" type="pres">
      <dgm:prSet presAssocID="{F03BC117-8981-47F1-8745-3DFC40BDD4C9}" presName="hierChild2" presStyleCnt="0"/>
      <dgm:spPr/>
    </dgm:pt>
    <dgm:pt modelId="{5D738A8B-56ED-4525-A96E-2652E304E923}" type="pres">
      <dgm:prSet presAssocID="{75FFD621-698D-4E0C-A5F4-6561431EC0A5}" presName="hierRoot1" presStyleCnt="0"/>
      <dgm:spPr/>
    </dgm:pt>
    <dgm:pt modelId="{ADB1C825-931E-43F0-89AF-7A70B870233A}" type="pres">
      <dgm:prSet presAssocID="{75FFD621-698D-4E0C-A5F4-6561431EC0A5}" presName="composite" presStyleCnt="0"/>
      <dgm:spPr/>
    </dgm:pt>
    <dgm:pt modelId="{1768DE7C-1B2C-4A34-9691-BB9CFCBB8383}" type="pres">
      <dgm:prSet presAssocID="{75FFD621-698D-4E0C-A5F4-6561431EC0A5}" presName="background" presStyleLbl="node0" presStyleIdx="2" presStyleCnt="3"/>
      <dgm:spPr/>
    </dgm:pt>
    <dgm:pt modelId="{E8B9A697-86BC-4622-8DAB-57183BD971A7}" type="pres">
      <dgm:prSet presAssocID="{75FFD621-698D-4E0C-A5F4-6561431EC0A5}" presName="text" presStyleLbl="fgAcc0" presStyleIdx="2" presStyleCnt="3" custScaleX="110261" custScaleY="125923">
        <dgm:presLayoutVars>
          <dgm:chPref val="3"/>
        </dgm:presLayoutVars>
      </dgm:prSet>
      <dgm:spPr/>
    </dgm:pt>
    <dgm:pt modelId="{6FDADCDF-1525-4E28-BB31-5D130B3EFBA1}" type="pres">
      <dgm:prSet presAssocID="{75FFD621-698D-4E0C-A5F4-6561431EC0A5}" presName="hierChild2" presStyleCnt="0"/>
      <dgm:spPr/>
    </dgm:pt>
  </dgm:ptLst>
  <dgm:cxnLst>
    <dgm:cxn modelId="{C5EA3C68-2F51-424B-AB95-AFF980715D87}" srcId="{80CAB1C5-57F8-4F23-B323-F950DE38CDB1}" destId="{003DFED4-CC78-43EE-9381-69F156C25BDD}" srcOrd="0" destOrd="0" parTransId="{BD3332F5-5F49-4835-9AB7-940F5708B6E0}" sibTransId="{500CACFC-3E66-4000-AC2E-282DA9E030F0}"/>
    <dgm:cxn modelId="{FC609DEF-A6FC-4659-8CBF-4123A055FF58}" srcId="{80CAB1C5-57F8-4F23-B323-F950DE38CDB1}" destId="{F03BC117-8981-47F1-8745-3DFC40BDD4C9}" srcOrd="1" destOrd="0" parTransId="{55476ADB-24CF-4A7A-B22A-819A17B354E8}" sibTransId="{A55746CA-46A4-4E6A-A4AE-8B3CA749BA73}"/>
    <dgm:cxn modelId="{45FE5C4E-4715-4DD7-BAC3-892C9AFA815D}" srcId="{80CAB1C5-57F8-4F23-B323-F950DE38CDB1}" destId="{75FFD621-698D-4E0C-A5F4-6561431EC0A5}" srcOrd="2" destOrd="0" parTransId="{F97F7BD4-4EE5-4EDF-A987-B972B9C935A2}" sibTransId="{D114EACF-6A4F-4343-A3D6-B9E9747426B1}"/>
    <dgm:cxn modelId="{02BC17D4-5813-4E9A-9898-74F1C4F3F199}" type="presOf" srcId="{80CAB1C5-57F8-4F23-B323-F950DE38CDB1}" destId="{FCF3E84B-7DE2-46F1-AD85-1F7572F39F6C}" srcOrd="0" destOrd="0" presId="urn:microsoft.com/office/officeart/2005/8/layout/hierarchy1"/>
    <dgm:cxn modelId="{636D5E82-DF3D-4984-AE83-657909EB3DFD}" type="presParOf" srcId="{FCF3E84B-7DE2-46F1-AD85-1F7572F39F6C}" destId="{4E27DE07-1B1D-4FCB-A1AF-EAEF94E0291E}" srcOrd="0" destOrd="0" presId="urn:microsoft.com/office/officeart/2005/8/layout/hierarchy1"/>
    <dgm:cxn modelId="{D29429F9-363C-4607-8923-515F24B242F4}" type="presParOf" srcId="{4E27DE07-1B1D-4FCB-A1AF-EAEF94E0291E}" destId="{DFAA5900-7DFC-46E4-AE22-82E45CF50DD5}" srcOrd="0" destOrd="0" presId="urn:microsoft.com/office/officeart/2005/8/layout/hierarchy1"/>
    <dgm:cxn modelId="{6C044857-19C9-4340-A7D0-888FFF36DB7C}" type="presParOf" srcId="{DFAA5900-7DFC-46E4-AE22-82E45CF50DD5}" destId="{6FE7C54A-B697-4CE7-953B-0A07BB09D1FB}" srcOrd="0" destOrd="0" presId="urn:microsoft.com/office/officeart/2005/8/layout/hierarchy1"/>
    <dgm:cxn modelId="{C0670BA2-B1BF-4143-91A9-874D4A60E699}" type="presParOf" srcId="{DFAA5900-7DFC-46E4-AE22-82E45CF50DD5}" destId="{425D05E8-F253-4413-B22F-9C066CDFCD68}" srcOrd="1" destOrd="0" presId="urn:microsoft.com/office/officeart/2005/8/layout/hierarchy1"/>
    <dgm:cxn modelId="{F000C4AA-31DF-4DEB-9AA5-BA3D3B3ECCFD}" type="presOf" srcId="{003DFED4-CC78-43EE-9381-69F156C25BDD}" destId="{425D05E8-F253-4413-B22F-9C066CDFCD68}" srcOrd="0" destOrd="0" presId="urn:microsoft.com/office/officeart/2005/8/layout/hierarchy1"/>
    <dgm:cxn modelId="{3ACE9F34-33E2-48B0-BA08-17A41ECA552F}" type="presParOf" srcId="{4E27DE07-1B1D-4FCB-A1AF-EAEF94E0291E}" destId="{42E922BF-9A71-430C-92F3-366E68C906D4}" srcOrd="1" destOrd="0" presId="urn:microsoft.com/office/officeart/2005/8/layout/hierarchy1"/>
    <dgm:cxn modelId="{D86D6445-0840-44D7-A726-610EC43B906A}" type="presParOf" srcId="{FCF3E84B-7DE2-46F1-AD85-1F7572F39F6C}" destId="{92124634-7BCD-4205-8E8B-8B0D40044FDA}" srcOrd="1" destOrd="0" presId="urn:microsoft.com/office/officeart/2005/8/layout/hierarchy1"/>
    <dgm:cxn modelId="{83CC755E-AEE2-4590-8C42-084A3519DBD7}" type="presParOf" srcId="{92124634-7BCD-4205-8E8B-8B0D40044FDA}" destId="{116CFA02-8448-46A1-83F7-C4700FD0E85B}" srcOrd="0" destOrd="1" presId="urn:microsoft.com/office/officeart/2005/8/layout/hierarchy1"/>
    <dgm:cxn modelId="{F85632AA-6F84-450B-A63E-12D536590634}" type="presParOf" srcId="{116CFA02-8448-46A1-83F7-C4700FD0E85B}" destId="{6B206D4A-B468-4443-B834-A9600469922F}" srcOrd="0" destOrd="0" presId="urn:microsoft.com/office/officeart/2005/8/layout/hierarchy1"/>
    <dgm:cxn modelId="{3707791D-BE88-4F26-B803-6AEB1FC8A1ED}" type="presParOf" srcId="{116CFA02-8448-46A1-83F7-C4700FD0E85B}" destId="{EA8DC4AA-1AD0-4A63-B30B-BFF748426C0B}" srcOrd="1" destOrd="0" presId="urn:microsoft.com/office/officeart/2005/8/layout/hierarchy1"/>
    <dgm:cxn modelId="{36A75F86-2CAC-4115-A312-B54104DB10F4}" type="presOf" srcId="{F03BC117-8981-47F1-8745-3DFC40BDD4C9}" destId="{EA8DC4AA-1AD0-4A63-B30B-BFF748426C0B}" srcOrd="0" destOrd="0" presId="urn:microsoft.com/office/officeart/2005/8/layout/hierarchy1"/>
    <dgm:cxn modelId="{A09C22FF-7D49-4C69-87C7-B8AE572F7168}" type="presParOf" srcId="{92124634-7BCD-4205-8E8B-8B0D40044FDA}" destId="{02D2108B-43F2-4AA2-B185-ECE5ED71E72E}" srcOrd="1" destOrd="1" presId="urn:microsoft.com/office/officeart/2005/8/layout/hierarchy1"/>
    <dgm:cxn modelId="{B65A9F9B-60ED-4AE3-A8ED-E1E691527E42}" type="presParOf" srcId="{FCF3E84B-7DE2-46F1-AD85-1F7572F39F6C}" destId="{5D738A8B-56ED-4525-A96E-2652E304E923}" srcOrd="2" destOrd="0" presId="urn:microsoft.com/office/officeart/2005/8/layout/hierarchy1"/>
    <dgm:cxn modelId="{84886804-711E-4DC9-A166-25D7F3F65ABE}" type="presParOf" srcId="{5D738A8B-56ED-4525-A96E-2652E304E923}" destId="{ADB1C825-931E-43F0-89AF-7A70B870233A}" srcOrd="0" destOrd="2" presId="urn:microsoft.com/office/officeart/2005/8/layout/hierarchy1"/>
    <dgm:cxn modelId="{BAEF34F9-0CA1-45F0-A35B-BE301C1DA2CD}" type="presParOf" srcId="{ADB1C825-931E-43F0-89AF-7A70B870233A}" destId="{1768DE7C-1B2C-4A34-9691-BB9CFCBB8383}" srcOrd="0" destOrd="0" presId="urn:microsoft.com/office/officeart/2005/8/layout/hierarchy1"/>
    <dgm:cxn modelId="{BFA85108-DE56-4957-B8A1-A7EE860EA4AB}" type="presParOf" srcId="{ADB1C825-931E-43F0-89AF-7A70B870233A}" destId="{E8B9A697-86BC-4622-8DAB-57183BD971A7}" srcOrd="1" destOrd="0" presId="urn:microsoft.com/office/officeart/2005/8/layout/hierarchy1"/>
    <dgm:cxn modelId="{C2F263C7-ED18-46BD-93A5-02C5456960F5}" type="presOf" srcId="{75FFD621-698D-4E0C-A5F4-6561431EC0A5}" destId="{E8B9A697-86BC-4622-8DAB-57183BD971A7}" srcOrd="0" destOrd="0" presId="urn:microsoft.com/office/officeart/2005/8/layout/hierarchy1"/>
    <dgm:cxn modelId="{F4F2AFC0-0CFC-42C6-A66F-CCA710C360C0}" type="presParOf" srcId="{5D738A8B-56ED-4525-A96E-2652E304E923}" destId="{6FDADCDF-1525-4E28-BB31-5D130B3EFBA1}" srcOrd="1" destOrd="2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9FA9BD-7E50-4873-9EDC-1FA631466DC5}" type="doc">
      <dgm:prSet loTypeId="urn:microsoft.com/office/officeart/2018/2/layout/IconCircleList" loCatId="icon" qsTypeId="urn:microsoft.com/office/officeart/2005/8/quickstyle/simple1#2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9BCD0DA-ADC8-4978-8536-523C5F4D01B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200" b="1" i="0" dirty="0">
              <a:latin typeface="Arial(body)"/>
            </a:rPr>
            <a:t>Frontend: React.js, JavaScript, Axios, Chart.js, CSS, React Context API</a:t>
          </a:r>
          <a:endParaRPr lang="en-US" sz="1200" b="1" dirty="0">
            <a:latin typeface="Arial(body)"/>
          </a:endParaRPr>
        </a:p>
      </dgm:t>
    </dgm:pt>
    <dgm:pt modelId="{69FBFE43-00AD-4696-8E04-897F37BFA0BD}" cxnId="{A4C1B0FF-8E44-4E76-BC67-468ABD30B5B3}" type="parTrans">
      <dgm:prSet/>
      <dgm:spPr/>
      <dgm:t>
        <a:bodyPr/>
        <a:lstStyle/>
        <a:p>
          <a:endParaRPr lang="en-US"/>
        </a:p>
      </dgm:t>
    </dgm:pt>
    <dgm:pt modelId="{0792D5A5-E8E6-4CF3-8247-FD29110D0CCA}" cxnId="{A4C1B0FF-8E44-4E76-BC67-468ABD30B5B3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6CEAEE0-6341-4FCE-AC7C-CE10786815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200" b="1" i="0" dirty="0">
              <a:latin typeface="Arial(body)"/>
            </a:rPr>
            <a:t>Backend: Node.js, Express.js, REST APIs, JWT Authentication, </a:t>
          </a:r>
          <a:r>
            <a:rPr lang="en-IN" sz="1200" b="1" i="0" dirty="0" err="1">
              <a:latin typeface="Arial(body)"/>
            </a:rPr>
            <a:t>bcrypt</a:t>
          </a:r>
          <a:r>
            <a:rPr lang="en-IN" sz="1200" b="1" i="0" dirty="0">
              <a:latin typeface="Arial(body)"/>
            </a:rPr>
            <a:t>, Helmet, CORS, Morgan, Express Rate Limit</a:t>
          </a:r>
          <a:endParaRPr lang="en-US" sz="1200" b="1" dirty="0">
            <a:latin typeface="Arial(body)"/>
          </a:endParaRPr>
        </a:p>
      </dgm:t>
    </dgm:pt>
    <dgm:pt modelId="{E1FC9BB5-4EE5-4062-A79B-73D1BF18391C}" cxnId="{8C9DAF3A-AFEB-4D5B-A4D0-DBDF46620C87}" type="parTrans">
      <dgm:prSet/>
      <dgm:spPr/>
      <dgm:t>
        <a:bodyPr/>
        <a:lstStyle/>
        <a:p>
          <a:endParaRPr lang="en-US"/>
        </a:p>
      </dgm:t>
    </dgm:pt>
    <dgm:pt modelId="{2BC21667-419E-4B56-8575-681AEB28405C}" cxnId="{8C9DAF3A-AFEB-4D5B-A4D0-DBDF46620C87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1BEE27C-E71D-433E-951E-C2D5C1DE0E8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200" b="1" i="0" dirty="0">
              <a:latin typeface="Arial(body)"/>
            </a:rPr>
            <a:t>Database: </a:t>
          </a:r>
          <a:r>
            <a:rPr lang="en-IN" sz="1200" b="1" i="0" dirty="0" err="1">
              <a:latin typeface="Arial(body)"/>
            </a:rPr>
            <a:t>NeDB</a:t>
          </a:r>
          <a:r>
            <a:rPr lang="en-IN" sz="1200" b="1" i="0" dirty="0">
              <a:latin typeface="Arial(body)"/>
            </a:rPr>
            <a:t>, Users Database, Industries Database, Sensors Database, Readings Database, Violations Database, Alerts Database, Reports Database, Risk Assessments Database, Agent Activities Database</a:t>
          </a:r>
          <a:endParaRPr lang="en-US" sz="1200" b="1" dirty="0">
            <a:latin typeface="Arial(body)"/>
          </a:endParaRPr>
        </a:p>
      </dgm:t>
    </dgm:pt>
    <dgm:pt modelId="{A72D11E3-CF10-4989-9879-3796E0F175F9}" cxnId="{370F64CA-BE5A-4743-8D0D-676CD794400C}" type="parTrans">
      <dgm:prSet/>
      <dgm:spPr/>
      <dgm:t>
        <a:bodyPr/>
        <a:lstStyle/>
        <a:p>
          <a:endParaRPr lang="en-US"/>
        </a:p>
      </dgm:t>
    </dgm:pt>
    <dgm:pt modelId="{4F978038-5E55-4DB2-A3E7-ADF1FAB27469}" cxnId="{370F64CA-BE5A-4743-8D0D-676CD794400C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31ABE4E-2E11-46A4-B806-CB60B6DF738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200" b="1" i="0" dirty="0">
              <a:latin typeface="Arial(body)"/>
            </a:rPr>
            <a:t>AI: IBM </a:t>
          </a:r>
          <a:r>
            <a:rPr lang="en-IN" sz="1200" b="1" i="0" dirty="0" err="1">
              <a:latin typeface="Arial(body)"/>
            </a:rPr>
            <a:t>watsonx</a:t>
          </a:r>
          <a:r>
            <a:rPr lang="en-IN" sz="1200" b="1" i="0" dirty="0">
              <a:latin typeface="Arial(body)"/>
            </a:rPr>
            <a:t>, IBM Granite LLM, AI-Generated Compliance Reports, Natural-Language AI Queries, AI Environmental Analysis</a:t>
          </a:r>
          <a:endParaRPr lang="en-US" sz="1200" b="1" dirty="0">
            <a:latin typeface="Arial(body)"/>
          </a:endParaRPr>
        </a:p>
      </dgm:t>
    </dgm:pt>
    <dgm:pt modelId="{A7BD9F74-2070-43CE-A180-45699073BEB9}" cxnId="{A43B47CD-9F56-4D10-A4C4-4415B9ADAD19}" type="parTrans">
      <dgm:prSet/>
      <dgm:spPr/>
      <dgm:t>
        <a:bodyPr/>
        <a:lstStyle/>
        <a:p>
          <a:endParaRPr lang="en-US"/>
        </a:p>
      </dgm:t>
    </dgm:pt>
    <dgm:pt modelId="{5470737D-308D-444A-A944-59953658BA54}" cxnId="{A43B47CD-9F56-4D10-A4C4-4415B9ADAD19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75B2F5B-E100-47EB-9D3A-0D49B7F4DF2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200" b="1" i="0" dirty="0">
              <a:latin typeface="Arial(body)"/>
            </a:rPr>
            <a:t>IoT: Real-Time Sensor Simulator, Air-Quality Sensors, Water-Quality Sensors</a:t>
          </a:r>
          <a:endParaRPr lang="en-US" sz="1200" b="1" dirty="0">
            <a:latin typeface="Arial(body)"/>
          </a:endParaRPr>
        </a:p>
      </dgm:t>
    </dgm:pt>
    <dgm:pt modelId="{3979D5EB-40BC-443D-84F5-D925191406DC}" cxnId="{1718393D-7E3B-4D55-9FFF-0890DAA71FAC}" type="parTrans">
      <dgm:prSet/>
      <dgm:spPr/>
      <dgm:t>
        <a:bodyPr/>
        <a:lstStyle/>
        <a:p>
          <a:endParaRPr lang="en-US"/>
        </a:p>
      </dgm:t>
    </dgm:pt>
    <dgm:pt modelId="{F183EF11-C7C5-41A2-B06B-BA0A76E46662}" cxnId="{1718393D-7E3B-4D55-9FFF-0890DAA71FAC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2E0035-B7DF-491E-B110-8F6FFE828F5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200" b="1" i="0" dirty="0">
              <a:latin typeface="Arial(body)"/>
            </a:rPr>
            <a:t>Security: JWT Authentication, Role-Based Access Control, </a:t>
          </a:r>
          <a:r>
            <a:rPr lang="en-IN" sz="1200" b="1" i="0" dirty="0" err="1">
              <a:latin typeface="Arial(body)"/>
            </a:rPr>
            <a:t>bcrypt</a:t>
          </a:r>
          <a:r>
            <a:rPr lang="en-IN" sz="1200" b="1" i="0" dirty="0">
              <a:latin typeface="Arial(body)"/>
            </a:rPr>
            <a:t> Password Hashing, Helmet Security Middleware, CORS Configuration, Rate Limiting</a:t>
          </a:r>
          <a:endParaRPr lang="en-US" sz="1200" b="1" dirty="0">
            <a:latin typeface="Arial(body)"/>
          </a:endParaRPr>
        </a:p>
      </dgm:t>
    </dgm:pt>
    <dgm:pt modelId="{B8B2D7F4-D0B5-401E-8F34-6F0C7002F1BC}" cxnId="{842A6E19-B563-4C20-BE02-A11E258699CF}" type="parTrans">
      <dgm:prSet/>
      <dgm:spPr/>
      <dgm:t>
        <a:bodyPr/>
        <a:lstStyle/>
        <a:p>
          <a:endParaRPr lang="en-US"/>
        </a:p>
      </dgm:t>
    </dgm:pt>
    <dgm:pt modelId="{45BB06CA-7E8B-478D-8421-4451C32E3B54}" cxnId="{842A6E19-B563-4C20-BE02-A11E258699CF}" type="sibTrans">
      <dgm:prSet/>
      <dgm:spPr/>
      <dgm:t>
        <a:bodyPr/>
        <a:lstStyle/>
        <a:p>
          <a:endParaRPr lang="en-US"/>
        </a:p>
      </dgm:t>
    </dgm:pt>
    <dgm:pt modelId="{B9720C21-8D22-41D5-AD3A-5A980C40C976}" type="pres">
      <dgm:prSet presAssocID="{649FA9BD-7E50-4873-9EDC-1FA631466DC5}" presName="root" presStyleCnt="0">
        <dgm:presLayoutVars>
          <dgm:dir/>
          <dgm:resizeHandles val="exact"/>
        </dgm:presLayoutVars>
      </dgm:prSet>
      <dgm:spPr/>
    </dgm:pt>
    <dgm:pt modelId="{771809B0-B607-4386-92F5-D8B6E2F4EBBE}" type="pres">
      <dgm:prSet presAssocID="{649FA9BD-7E50-4873-9EDC-1FA631466DC5}" presName="container" presStyleCnt="0">
        <dgm:presLayoutVars>
          <dgm:dir/>
          <dgm:resizeHandles val="exact"/>
        </dgm:presLayoutVars>
      </dgm:prSet>
      <dgm:spPr/>
    </dgm:pt>
    <dgm:pt modelId="{7FF44136-7FCD-4707-8BFD-2EDDC4EDEF5B}" type="pres">
      <dgm:prSet presAssocID="{B9BCD0DA-ADC8-4978-8536-523C5F4D01B4}" presName="compNode" presStyleCnt="0"/>
      <dgm:spPr/>
    </dgm:pt>
    <dgm:pt modelId="{9C1C4AC8-32E8-4D17-A36E-1BFEA1A4A271}" type="pres">
      <dgm:prSet presAssocID="{B9BCD0DA-ADC8-4978-8536-523C5F4D01B4}" presName="iconBgRect" presStyleLbl="bgShp" presStyleIdx="0" presStyleCnt="6"/>
      <dgm:spPr/>
    </dgm:pt>
    <dgm:pt modelId="{35E24229-21E3-4BC0-A3D8-A6AB33B5700B}" type="pres">
      <dgm:prSet presAssocID="{B9BCD0DA-ADC8-4978-8536-523C5F4D01B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FA0CA567-607D-4C8A-9080-0F53B68B487A}" type="pres">
      <dgm:prSet presAssocID="{B9BCD0DA-ADC8-4978-8536-523C5F4D01B4}" presName="spaceRect" presStyleCnt="0"/>
      <dgm:spPr/>
    </dgm:pt>
    <dgm:pt modelId="{DBF038C0-DF10-4189-B76F-396557026894}" type="pres">
      <dgm:prSet presAssocID="{B9BCD0DA-ADC8-4978-8536-523C5F4D01B4}" presName="textRect" presStyleLbl="revTx" presStyleIdx="0" presStyleCnt="6">
        <dgm:presLayoutVars>
          <dgm:chMax val="1"/>
          <dgm:chPref val="1"/>
        </dgm:presLayoutVars>
      </dgm:prSet>
      <dgm:spPr/>
    </dgm:pt>
    <dgm:pt modelId="{40D189CC-8FA5-4EDB-8810-342F84628A01}" type="pres">
      <dgm:prSet presAssocID="{0792D5A5-E8E6-4CF3-8247-FD29110D0CCA}" presName="sibTrans" presStyleLbl="sibTrans2D1" presStyleIdx="0" presStyleCnt="0"/>
      <dgm:spPr/>
    </dgm:pt>
    <dgm:pt modelId="{66281A1C-2106-48A6-9BE5-A8DFB7CA6DE7}" type="pres">
      <dgm:prSet presAssocID="{A6CEAEE0-6341-4FCE-AC7C-CE10786815CB}" presName="compNode" presStyleCnt="0"/>
      <dgm:spPr/>
    </dgm:pt>
    <dgm:pt modelId="{F6DDC7B5-E3EA-4537-9D0F-958C5581126F}" type="pres">
      <dgm:prSet presAssocID="{A6CEAEE0-6341-4FCE-AC7C-CE10786815CB}" presName="iconBgRect" presStyleLbl="bgShp" presStyleIdx="1" presStyleCnt="6"/>
      <dgm:spPr/>
    </dgm:pt>
    <dgm:pt modelId="{2584963E-A32C-402C-BBCC-EEFE831397A0}" type="pres">
      <dgm:prSet presAssocID="{A6CEAEE0-6341-4FCE-AC7C-CE10786815C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</dgm:pt>
    <dgm:pt modelId="{7DFA6782-1565-4321-9B97-1CA3DCD27A23}" type="pres">
      <dgm:prSet presAssocID="{A6CEAEE0-6341-4FCE-AC7C-CE10786815CB}" presName="spaceRect" presStyleCnt="0"/>
      <dgm:spPr/>
    </dgm:pt>
    <dgm:pt modelId="{95DE9544-2B99-48C9-B9BD-98F22CCD84FB}" type="pres">
      <dgm:prSet presAssocID="{A6CEAEE0-6341-4FCE-AC7C-CE10786815CB}" presName="textRect" presStyleLbl="revTx" presStyleIdx="1" presStyleCnt="6">
        <dgm:presLayoutVars>
          <dgm:chMax val="1"/>
          <dgm:chPref val="1"/>
        </dgm:presLayoutVars>
      </dgm:prSet>
      <dgm:spPr/>
    </dgm:pt>
    <dgm:pt modelId="{B6DE6118-D2F7-49FF-AE83-75C61680CEA4}" type="pres">
      <dgm:prSet presAssocID="{2BC21667-419E-4B56-8575-681AEB28405C}" presName="sibTrans" presStyleLbl="sibTrans2D1" presStyleIdx="0" presStyleCnt="0"/>
      <dgm:spPr/>
    </dgm:pt>
    <dgm:pt modelId="{373748DB-E5C7-4C35-A93E-7C78F4060593}" type="pres">
      <dgm:prSet presAssocID="{91BEE27C-E71D-433E-951E-C2D5C1DE0E8A}" presName="compNode" presStyleCnt="0"/>
      <dgm:spPr/>
    </dgm:pt>
    <dgm:pt modelId="{BEE85685-F42F-4EA8-8898-77A6F00049A5}" type="pres">
      <dgm:prSet presAssocID="{91BEE27C-E71D-433E-951E-C2D5C1DE0E8A}" presName="iconBgRect" presStyleLbl="bgShp" presStyleIdx="2" presStyleCnt="6"/>
      <dgm:spPr/>
    </dgm:pt>
    <dgm:pt modelId="{2FF98A4E-A5CB-476A-8EC4-E08BC4A6DF98}" type="pres">
      <dgm:prSet presAssocID="{91BEE27C-E71D-433E-951E-C2D5C1DE0E8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</dgm:pt>
    <dgm:pt modelId="{DE128000-6E47-4B96-A570-785B099AE2CE}" type="pres">
      <dgm:prSet presAssocID="{91BEE27C-E71D-433E-951E-C2D5C1DE0E8A}" presName="spaceRect" presStyleCnt="0"/>
      <dgm:spPr/>
    </dgm:pt>
    <dgm:pt modelId="{56F424C1-58DA-49EB-B559-F7E7539F6CA0}" type="pres">
      <dgm:prSet presAssocID="{91BEE27C-E71D-433E-951E-C2D5C1DE0E8A}" presName="textRect" presStyleLbl="revTx" presStyleIdx="2" presStyleCnt="6">
        <dgm:presLayoutVars>
          <dgm:chMax val="1"/>
          <dgm:chPref val="1"/>
        </dgm:presLayoutVars>
      </dgm:prSet>
      <dgm:spPr/>
    </dgm:pt>
    <dgm:pt modelId="{00F48975-1CF4-4517-9583-A90A732CD91E}" type="pres">
      <dgm:prSet presAssocID="{4F978038-5E55-4DB2-A3E7-ADF1FAB27469}" presName="sibTrans" presStyleLbl="sibTrans2D1" presStyleIdx="0" presStyleCnt="0"/>
      <dgm:spPr/>
    </dgm:pt>
    <dgm:pt modelId="{1CB5E85D-D960-4E2C-B794-EAF5552A13DA}" type="pres">
      <dgm:prSet presAssocID="{631ABE4E-2E11-46A4-B806-CB60B6DF7389}" presName="compNode" presStyleCnt="0"/>
      <dgm:spPr/>
    </dgm:pt>
    <dgm:pt modelId="{4F8E4E1A-7EBB-4B12-88FD-FBD82639EC9C}" type="pres">
      <dgm:prSet presAssocID="{631ABE4E-2E11-46A4-B806-CB60B6DF7389}" presName="iconBgRect" presStyleLbl="bgShp" presStyleIdx="3" presStyleCnt="6"/>
      <dgm:spPr/>
    </dgm:pt>
    <dgm:pt modelId="{22AD413B-9279-42CB-A9A5-F5188BC6C5F0}" type="pres">
      <dgm:prSet presAssocID="{631ABE4E-2E11-46A4-B806-CB60B6DF738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</dgm:pt>
    <dgm:pt modelId="{8CF99F86-D9E3-4C15-BFB6-CE7A3A1F9784}" type="pres">
      <dgm:prSet presAssocID="{631ABE4E-2E11-46A4-B806-CB60B6DF7389}" presName="spaceRect" presStyleCnt="0"/>
      <dgm:spPr/>
    </dgm:pt>
    <dgm:pt modelId="{0D5F042D-A186-47A1-AEDC-2F2DFF0A3C9A}" type="pres">
      <dgm:prSet presAssocID="{631ABE4E-2E11-46A4-B806-CB60B6DF7389}" presName="textRect" presStyleLbl="revTx" presStyleIdx="3" presStyleCnt="6">
        <dgm:presLayoutVars>
          <dgm:chMax val="1"/>
          <dgm:chPref val="1"/>
        </dgm:presLayoutVars>
      </dgm:prSet>
      <dgm:spPr/>
    </dgm:pt>
    <dgm:pt modelId="{CFE8AC0C-583A-4FC1-B15E-82C7489CA372}" type="pres">
      <dgm:prSet presAssocID="{5470737D-308D-444A-A944-59953658BA54}" presName="sibTrans" presStyleLbl="sibTrans2D1" presStyleIdx="0" presStyleCnt="0"/>
      <dgm:spPr/>
    </dgm:pt>
    <dgm:pt modelId="{58A1E289-1C20-41E7-A4F2-7E17CDA89D95}" type="pres">
      <dgm:prSet presAssocID="{E75B2F5B-E100-47EB-9D3A-0D49B7F4DF2B}" presName="compNode" presStyleCnt="0"/>
      <dgm:spPr/>
    </dgm:pt>
    <dgm:pt modelId="{4DB07CAF-70E9-4699-A0AB-467B8ADA384A}" type="pres">
      <dgm:prSet presAssocID="{E75B2F5B-E100-47EB-9D3A-0D49B7F4DF2B}" presName="iconBgRect" presStyleLbl="bgShp" presStyleIdx="4" presStyleCnt="6"/>
      <dgm:spPr/>
    </dgm:pt>
    <dgm:pt modelId="{A28C5134-7DDD-49E5-B20B-7DECA9C3EF33}" type="pres">
      <dgm:prSet presAssocID="{E75B2F5B-E100-47EB-9D3A-0D49B7F4DF2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</dgm:pt>
    <dgm:pt modelId="{61DE09CF-B53A-4501-B6A1-C389A2291BD3}" type="pres">
      <dgm:prSet presAssocID="{E75B2F5B-E100-47EB-9D3A-0D49B7F4DF2B}" presName="spaceRect" presStyleCnt="0"/>
      <dgm:spPr/>
    </dgm:pt>
    <dgm:pt modelId="{283D288A-8A30-464B-837A-10B0861D3B86}" type="pres">
      <dgm:prSet presAssocID="{E75B2F5B-E100-47EB-9D3A-0D49B7F4DF2B}" presName="textRect" presStyleLbl="revTx" presStyleIdx="4" presStyleCnt="6">
        <dgm:presLayoutVars>
          <dgm:chMax val="1"/>
          <dgm:chPref val="1"/>
        </dgm:presLayoutVars>
      </dgm:prSet>
      <dgm:spPr/>
    </dgm:pt>
    <dgm:pt modelId="{4F5705B0-9F44-42C0-B5A0-421FDD543DF0}" type="pres">
      <dgm:prSet presAssocID="{F183EF11-C7C5-41A2-B06B-BA0A76E46662}" presName="sibTrans" presStyleLbl="sibTrans2D1" presStyleIdx="0" presStyleCnt="0"/>
      <dgm:spPr/>
    </dgm:pt>
    <dgm:pt modelId="{F3CC7B4B-53B3-47BD-ACCD-57914C2DA442}" type="pres">
      <dgm:prSet presAssocID="{CB2E0035-B7DF-491E-B110-8F6FFE828F50}" presName="compNode" presStyleCnt="0"/>
      <dgm:spPr/>
    </dgm:pt>
    <dgm:pt modelId="{148DDD10-AF4A-4E1C-AB43-7B8C6A7A1A47}" type="pres">
      <dgm:prSet presAssocID="{CB2E0035-B7DF-491E-B110-8F6FFE828F50}" presName="iconBgRect" presStyleLbl="bgShp" presStyleIdx="5" presStyleCnt="6"/>
      <dgm:spPr/>
    </dgm:pt>
    <dgm:pt modelId="{970490F6-2BE9-4FBF-BF93-F99D386D0C50}" type="pres">
      <dgm:prSet presAssocID="{CB2E0035-B7DF-491E-B110-8F6FFE828F5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</dgm:pt>
    <dgm:pt modelId="{2FA92150-4DF7-454A-AF81-317359FEEDCA}" type="pres">
      <dgm:prSet presAssocID="{CB2E0035-B7DF-491E-B110-8F6FFE828F50}" presName="spaceRect" presStyleCnt="0"/>
      <dgm:spPr/>
    </dgm:pt>
    <dgm:pt modelId="{D760F38A-4A19-4E59-9E2B-3FF369517942}" type="pres">
      <dgm:prSet presAssocID="{CB2E0035-B7DF-491E-B110-8F6FFE828F5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842A6E19-B563-4C20-BE02-A11E258699CF}" srcId="{649FA9BD-7E50-4873-9EDC-1FA631466DC5}" destId="{CB2E0035-B7DF-491E-B110-8F6FFE828F50}" srcOrd="5" destOrd="0" parTransId="{B8B2D7F4-D0B5-401E-8F34-6F0C7002F1BC}" sibTransId="{45BB06CA-7E8B-478D-8421-4451C32E3B54}"/>
    <dgm:cxn modelId="{8E825923-3226-4C30-8DA7-C86BFFA286AC}" type="presOf" srcId="{4F978038-5E55-4DB2-A3E7-ADF1FAB27469}" destId="{00F48975-1CF4-4517-9583-A90A732CD91E}" srcOrd="0" destOrd="0" presId="urn:microsoft.com/office/officeart/2018/2/layout/IconCircleList"/>
    <dgm:cxn modelId="{6BC8F139-3F10-4260-8133-8FB03FF148D5}" type="presOf" srcId="{0792D5A5-E8E6-4CF3-8247-FD29110D0CCA}" destId="{40D189CC-8FA5-4EDB-8810-342F84628A01}" srcOrd="0" destOrd="0" presId="urn:microsoft.com/office/officeart/2018/2/layout/IconCircleList"/>
    <dgm:cxn modelId="{8C9DAF3A-AFEB-4D5B-A4D0-DBDF46620C87}" srcId="{649FA9BD-7E50-4873-9EDC-1FA631466DC5}" destId="{A6CEAEE0-6341-4FCE-AC7C-CE10786815CB}" srcOrd="1" destOrd="0" parTransId="{E1FC9BB5-4EE5-4062-A79B-73D1BF18391C}" sibTransId="{2BC21667-419E-4B56-8575-681AEB28405C}"/>
    <dgm:cxn modelId="{1718393D-7E3B-4D55-9FFF-0890DAA71FAC}" srcId="{649FA9BD-7E50-4873-9EDC-1FA631466DC5}" destId="{E75B2F5B-E100-47EB-9D3A-0D49B7F4DF2B}" srcOrd="4" destOrd="0" parTransId="{3979D5EB-40BC-443D-84F5-D925191406DC}" sibTransId="{F183EF11-C7C5-41A2-B06B-BA0A76E46662}"/>
    <dgm:cxn modelId="{FF449276-FF29-4DAC-941D-BFA50D7EACC6}" type="presOf" srcId="{649FA9BD-7E50-4873-9EDC-1FA631466DC5}" destId="{B9720C21-8D22-41D5-AD3A-5A980C40C976}" srcOrd="0" destOrd="0" presId="urn:microsoft.com/office/officeart/2018/2/layout/IconCircleList"/>
    <dgm:cxn modelId="{D02CC689-7950-4B3C-AB6F-B41B9B8A6E62}" type="presOf" srcId="{A6CEAEE0-6341-4FCE-AC7C-CE10786815CB}" destId="{95DE9544-2B99-48C9-B9BD-98F22CCD84FB}" srcOrd="0" destOrd="0" presId="urn:microsoft.com/office/officeart/2018/2/layout/IconCircleList"/>
    <dgm:cxn modelId="{CAAB69A3-FFA9-4BB7-8C28-C654271440DB}" type="presOf" srcId="{CB2E0035-B7DF-491E-B110-8F6FFE828F50}" destId="{D760F38A-4A19-4E59-9E2B-3FF369517942}" srcOrd="0" destOrd="0" presId="urn:microsoft.com/office/officeart/2018/2/layout/IconCircleList"/>
    <dgm:cxn modelId="{99E198A5-D708-4BD1-B27A-9A3180B56832}" type="presOf" srcId="{631ABE4E-2E11-46A4-B806-CB60B6DF7389}" destId="{0D5F042D-A186-47A1-AEDC-2F2DFF0A3C9A}" srcOrd="0" destOrd="0" presId="urn:microsoft.com/office/officeart/2018/2/layout/IconCircleList"/>
    <dgm:cxn modelId="{B3E8E1AE-960E-48C2-B4CB-6A10DBE7C18F}" type="presOf" srcId="{F183EF11-C7C5-41A2-B06B-BA0A76E46662}" destId="{4F5705B0-9F44-42C0-B5A0-421FDD543DF0}" srcOrd="0" destOrd="0" presId="urn:microsoft.com/office/officeart/2018/2/layout/IconCircleList"/>
    <dgm:cxn modelId="{3AABF4B7-DFFA-4434-81C4-727169915C99}" type="presOf" srcId="{E75B2F5B-E100-47EB-9D3A-0D49B7F4DF2B}" destId="{283D288A-8A30-464B-837A-10B0861D3B86}" srcOrd="0" destOrd="0" presId="urn:microsoft.com/office/officeart/2018/2/layout/IconCircleList"/>
    <dgm:cxn modelId="{370F64CA-BE5A-4743-8D0D-676CD794400C}" srcId="{649FA9BD-7E50-4873-9EDC-1FA631466DC5}" destId="{91BEE27C-E71D-433E-951E-C2D5C1DE0E8A}" srcOrd="2" destOrd="0" parTransId="{A72D11E3-CF10-4989-9879-3796E0F175F9}" sibTransId="{4F978038-5E55-4DB2-A3E7-ADF1FAB27469}"/>
    <dgm:cxn modelId="{A43B47CD-9F56-4D10-A4C4-4415B9ADAD19}" srcId="{649FA9BD-7E50-4873-9EDC-1FA631466DC5}" destId="{631ABE4E-2E11-46A4-B806-CB60B6DF7389}" srcOrd="3" destOrd="0" parTransId="{A7BD9F74-2070-43CE-A180-45699073BEB9}" sibTransId="{5470737D-308D-444A-A944-59953658BA54}"/>
    <dgm:cxn modelId="{7DD561CF-41A9-4149-9D20-C1C0C17A2738}" type="presOf" srcId="{B9BCD0DA-ADC8-4978-8536-523C5F4D01B4}" destId="{DBF038C0-DF10-4189-B76F-396557026894}" srcOrd="0" destOrd="0" presId="urn:microsoft.com/office/officeart/2018/2/layout/IconCircleList"/>
    <dgm:cxn modelId="{0B2549D8-77F7-4B23-BAE2-61499E322C23}" type="presOf" srcId="{5470737D-308D-444A-A944-59953658BA54}" destId="{CFE8AC0C-583A-4FC1-B15E-82C7489CA372}" srcOrd="0" destOrd="0" presId="urn:microsoft.com/office/officeart/2018/2/layout/IconCircleList"/>
    <dgm:cxn modelId="{12531EEC-F29C-4795-B036-736B5F5C3696}" type="presOf" srcId="{91BEE27C-E71D-433E-951E-C2D5C1DE0E8A}" destId="{56F424C1-58DA-49EB-B559-F7E7539F6CA0}" srcOrd="0" destOrd="0" presId="urn:microsoft.com/office/officeart/2018/2/layout/IconCircleList"/>
    <dgm:cxn modelId="{E352A1F7-EA3D-4AFB-8732-F610DACEEBE2}" type="presOf" srcId="{2BC21667-419E-4B56-8575-681AEB28405C}" destId="{B6DE6118-D2F7-49FF-AE83-75C61680CEA4}" srcOrd="0" destOrd="0" presId="urn:microsoft.com/office/officeart/2018/2/layout/IconCircleList"/>
    <dgm:cxn modelId="{A4C1B0FF-8E44-4E76-BC67-468ABD30B5B3}" srcId="{649FA9BD-7E50-4873-9EDC-1FA631466DC5}" destId="{B9BCD0DA-ADC8-4978-8536-523C5F4D01B4}" srcOrd="0" destOrd="0" parTransId="{69FBFE43-00AD-4696-8E04-897F37BFA0BD}" sibTransId="{0792D5A5-E8E6-4CF3-8247-FD29110D0CCA}"/>
    <dgm:cxn modelId="{3DC5BA40-8864-4A40-AE70-1750422CAF47}" type="presParOf" srcId="{B9720C21-8D22-41D5-AD3A-5A980C40C976}" destId="{771809B0-B607-4386-92F5-D8B6E2F4EBBE}" srcOrd="0" destOrd="0" presId="urn:microsoft.com/office/officeart/2018/2/layout/IconCircleList"/>
    <dgm:cxn modelId="{70CB9FE1-6811-40FE-9A7F-EC67C6C29E9E}" type="presParOf" srcId="{771809B0-B607-4386-92F5-D8B6E2F4EBBE}" destId="{7FF44136-7FCD-4707-8BFD-2EDDC4EDEF5B}" srcOrd="0" destOrd="0" presId="urn:microsoft.com/office/officeart/2018/2/layout/IconCircleList"/>
    <dgm:cxn modelId="{E8EF6DD5-4D37-487A-A881-848DA32053DF}" type="presParOf" srcId="{7FF44136-7FCD-4707-8BFD-2EDDC4EDEF5B}" destId="{9C1C4AC8-32E8-4D17-A36E-1BFEA1A4A271}" srcOrd="0" destOrd="0" presId="urn:microsoft.com/office/officeart/2018/2/layout/IconCircleList"/>
    <dgm:cxn modelId="{A14464C9-4A8D-47B1-9D02-EA252BF9C7AD}" type="presParOf" srcId="{7FF44136-7FCD-4707-8BFD-2EDDC4EDEF5B}" destId="{35E24229-21E3-4BC0-A3D8-A6AB33B5700B}" srcOrd="1" destOrd="0" presId="urn:microsoft.com/office/officeart/2018/2/layout/IconCircleList"/>
    <dgm:cxn modelId="{999B90B3-9741-4313-8197-E6AFB4604BDE}" type="presParOf" srcId="{7FF44136-7FCD-4707-8BFD-2EDDC4EDEF5B}" destId="{FA0CA567-607D-4C8A-9080-0F53B68B487A}" srcOrd="2" destOrd="0" presId="urn:microsoft.com/office/officeart/2018/2/layout/IconCircleList"/>
    <dgm:cxn modelId="{0542FFF1-3E77-44E6-BEEA-44064BAD001A}" type="presParOf" srcId="{7FF44136-7FCD-4707-8BFD-2EDDC4EDEF5B}" destId="{DBF038C0-DF10-4189-B76F-396557026894}" srcOrd="3" destOrd="0" presId="urn:microsoft.com/office/officeart/2018/2/layout/IconCircleList"/>
    <dgm:cxn modelId="{2E6DAB2F-7B4B-4871-AD7E-377614EC9523}" type="presParOf" srcId="{771809B0-B607-4386-92F5-D8B6E2F4EBBE}" destId="{40D189CC-8FA5-4EDB-8810-342F84628A01}" srcOrd="1" destOrd="0" presId="urn:microsoft.com/office/officeart/2018/2/layout/IconCircleList"/>
    <dgm:cxn modelId="{045839DA-782F-44C1-BF15-2A2C76DCA7CD}" type="presParOf" srcId="{771809B0-B607-4386-92F5-D8B6E2F4EBBE}" destId="{66281A1C-2106-48A6-9BE5-A8DFB7CA6DE7}" srcOrd="2" destOrd="0" presId="urn:microsoft.com/office/officeart/2018/2/layout/IconCircleList"/>
    <dgm:cxn modelId="{E4AF7821-5AAB-4251-AC02-FBE2480EF151}" type="presParOf" srcId="{66281A1C-2106-48A6-9BE5-A8DFB7CA6DE7}" destId="{F6DDC7B5-E3EA-4537-9D0F-958C5581126F}" srcOrd="0" destOrd="0" presId="urn:microsoft.com/office/officeart/2018/2/layout/IconCircleList"/>
    <dgm:cxn modelId="{D9F99C2B-B3CF-4AA3-9028-0F7F122207F0}" type="presParOf" srcId="{66281A1C-2106-48A6-9BE5-A8DFB7CA6DE7}" destId="{2584963E-A32C-402C-BBCC-EEFE831397A0}" srcOrd="1" destOrd="0" presId="urn:microsoft.com/office/officeart/2018/2/layout/IconCircleList"/>
    <dgm:cxn modelId="{3B924C7F-8FE6-4933-9420-C23336D38D0F}" type="presParOf" srcId="{66281A1C-2106-48A6-9BE5-A8DFB7CA6DE7}" destId="{7DFA6782-1565-4321-9B97-1CA3DCD27A23}" srcOrd="2" destOrd="0" presId="urn:microsoft.com/office/officeart/2018/2/layout/IconCircleList"/>
    <dgm:cxn modelId="{63C899C8-205F-4862-A895-CD291B947D00}" type="presParOf" srcId="{66281A1C-2106-48A6-9BE5-A8DFB7CA6DE7}" destId="{95DE9544-2B99-48C9-B9BD-98F22CCD84FB}" srcOrd="3" destOrd="0" presId="urn:microsoft.com/office/officeart/2018/2/layout/IconCircleList"/>
    <dgm:cxn modelId="{ADEA6E10-BC16-48B4-8095-8CDEB32C30F6}" type="presParOf" srcId="{771809B0-B607-4386-92F5-D8B6E2F4EBBE}" destId="{B6DE6118-D2F7-49FF-AE83-75C61680CEA4}" srcOrd="3" destOrd="0" presId="urn:microsoft.com/office/officeart/2018/2/layout/IconCircleList"/>
    <dgm:cxn modelId="{77DFEF58-CC09-45D8-83FC-37B99D93CB8F}" type="presParOf" srcId="{771809B0-B607-4386-92F5-D8B6E2F4EBBE}" destId="{373748DB-E5C7-4C35-A93E-7C78F4060593}" srcOrd="4" destOrd="0" presId="urn:microsoft.com/office/officeart/2018/2/layout/IconCircleList"/>
    <dgm:cxn modelId="{7C9F457B-19BF-4E17-AEAE-1D5B840420C5}" type="presParOf" srcId="{373748DB-E5C7-4C35-A93E-7C78F4060593}" destId="{BEE85685-F42F-4EA8-8898-77A6F00049A5}" srcOrd="0" destOrd="0" presId="urn:microsoft.com/office/officeart/2018/2/layout/IconCircleList"/>
    <dgm:cxn modelId="{970C8566-34E0-4AAB-8FA1-A6E0F971EC7E}" type="presParOf" srcId="{373748DB-E5C7-4C35-A93E-7C78F4060593}" destId="{2FF98A4E-A5CB-476A-8EC4-E08BC4A6DF98}" srcOrd="1" destOrd="0" presId="urn:microsoft.com/office/officeart/2018/2/layout/IconCircleList"/>
    <dgm:cxn modelId="{153DAC52-CEF2-422A-9383-662968F08303}" type="presParOf" srcId="{373748DB-E5C7-4C35-A93E-7C78F4060593}" destId="{DE128000-6E47-4B96-A570-785B099AE2CE}" srcOrd="2" destOrd="0" presId="urn:microsoft.com/office/officeart/2018/2/layout/IconCircleList"/>
    <dgm:cxn modelId="{29813D50-0374-41F6-BADE-BE84E619992C}" type="presParOf" srcId="{373748DB-E5C7-4C35-A93E-7C78F4060593}" destId="{56F424C1-58DA-49EB-B559-F7E7539F6CA0}" srcOrd="3" destOrd="0" presId="urn:microsoft.com/office/officeart/2018/2/layout/IconCircleList"/>
    <dgm:cxn modelId="{EA9CA3A6-8F76-471B-AE6C-8D0096DE29D7}" type="presParOf" srcId="{771809B0-B607-4386-92F5-D8B6E2F4EBBE}" destId="{00F48975-1CF4-4517-9583-A90A732CD91E}" srcOrd="5" destOrd="0" presId="urn:microsoft.com/office/officeart/2018/2/layout/IconCircleList"/>
    <dgm:cxn modelId="{09DFEC52-7BA2-4ADE-B522-1606578ABD65}" type="presParOf" srcId="{771809B0-B607-4386-92F5-D8B6E2F4EBBE}" destId="{1CB5E85D-D960-4E2C-B794-EAF5552A13DA}" srcOrd="6" destOrd="0" presId="urn:microsoft.com/office/officeart/2018/2/layout/IconCircleList"/>
    <dgm:cxn modelId="{9D7BA84D-8B35-4625-AC47-E33BF442E19E}" type="presParOf" srcId="{1CB5E85D-D960-4E2C-B794-EAF5552A13DA}" destId="{4F8E4E1A-7EBB-4B12-88FD-FBD82639EC9C}" srcOrd="0" destOrd="0" presId="urn:microsoft.com/office/officeart/2018/2/layout/IconCircleList"/>
    <dgm:cxn modelId="{7EA6D71D-B187-4F8D-B825-781CF5326D11}" type="presParOf" srcId="{1CB5E85D-D960-4E2C-B794-EAF5552A13DA}" destId="{22AD413B-9279-42CB-A9A5-F5188BC6C5F0}" srcOrd="1" destOrd="0" presId="urn:microsoft.com/office/officeart/2018/2/layout/IconCircleList"/>
    <dgm:cxn modelId="{CD52AE23-1CE6-416D-A6BF-572210A8E7BD}" type="presParOf" srcId="{1CB5E85D-D960-4E2C-B794-EAF5552A13DA}" destId="{8CF99F86-D9E3-4C15-BFB6-CE7A3A1F9784}" srcOrd="2" destOrd="0" presId="urn:microsoft.com/office/officeart/2018/2/layout/IconCircleList"/>
    <dgm:cxn modelId="{0584558A-2608-4193-BCA0-F1C4488C6D0D}" type="presParOf" srcId="{1CB5E85D-D960-4E2C-B794-EAF5552A13DA}" destId="{0D5F042D-A186-47A1-AEDC-2F2DFF0A3C9A}" srcOrd="3" destOrd="0" presId="urn:microsoft.com/office/officeart/2018/2/layout/IconCircleList"/>
    <dgm:cxn modelId="{B70845EF-FD3C-42D6-B538-E7E85575558D}" type="presParOf" srcId="{771809B0-B607-4386-92F5-D8B6E2F4EBBE}" destId="{CFE8AC0C-583A-4FC1-B15E-82C7489CA372}" srcOrd="7" destOrd="0" presId="urn:microsoft.com/office/officeart/2018/2/layout/IconCircleList"/>
    <dgm:cxn modelId="{1DB00FA9-9317-4F32-8532-5A7D521EEC4A}" type="presParOf" srcId="{771809B0-B607-4386-92F5-D8B6E2F4EBBE}" destId="{58A1E289-1C20-41E7-A4F2-7E17CDA89D95}" srcOrd="8" destOrd="0" presId="urn:microsoft.com/office/officeart/2018/2/layout/IconCircleList"/>
    <dgm:cxn modelId="{98C6A418-7BC5-4B47-80F0-BADFEC6184D5}" type="presParOf" srcId="{58A1E289-1C20-41E7-A4F2-7E17CDA89D95}" destId="{4DB07CAF-70E9-4699-A0AB-467B8ADA384A}" srcOrd="0" destOrd="0" presId="urn:microsoft.com/office/officeart/2018/2/layout/IconCircleList"/>
    <dgm:cxn modelId="{BF9A8B20-3ABE-41A5-BE90-B75B6FE22F38}" type="presParOf" srcId="{58A1E289-1C20-41E7-A4F2-7E17CDA89D95}" destId="{A28C5134-7DDD-49E5-B20B-7DECA9C3EF33}" srcOrd="1" destOrd="0" presId="urn:microsoft.com/office/officeart/2018/2/layout/IconCircleList"/>
    <dgm:cxn modelId="{9C3A8F73-61F0-4F87-9410-FAB3D9E65FFF}" type="presParOf" srcId="{58A1E289-1C20-41E7-A4F2-7E17CDA89D95}" destId="{61DE09CF-B53A-4501-B6A1-C389A2291BD3}" srcOrd="2" destOrd="0" presId="urn:microsoft.com/office/officeart/2018/2/layout/IconCircleList"/>
    <dgm:cxn modelId="{8D6D25FF-3A69-4807-936F-FD6D1B6A3FBF}" type="presParOf" srcId="{58A1E289-1C20-41E7-A4F2-7E17CDA89D95}" destId="{283D288A-8A30-464B-837A-10B0861D3B86}" srcOrd="3" destOrd="0" presId="urn:microsoft.com/office/officeart/2018/2/layout/IconCircleList"/>
    <dgm:cxn modelId="{14E552E4-7127-4E13-954E-E34185611B6A}" type="presParOf" srcId="{771809B0-B607-4386-92F5-D8B6E2F4EBBE}" destId="{4F5705B0-9F44-42C0-B5A0-421FDD543DF0}" srcOrd="9" destOrd="0" presId="urn:microsoft.com/office/officeart/2018/2/layout/IconCircleList"/>
    <dgm:cxn modelId="{F5D01D8B-C37B-456F-B92E-1CB32F63878B}" type="presParOf" srcId="{771809B0-B607-4386-92F5-D8B6E2F4EBBE}" destId="{F3CC7B4B-53B3-47BD-ACCD-57914C2DA442}" srcOrd="10" destOrd="0" presId="urn:microsoft.com/office/officeart/2018/2/layout/IconCircleList"/>
    <dgm:cxn modelId="{DB925298-3437-470A-BCB5-A5892433ACC5}" type="presParOf" srcId="{F3CC7B4B-53B3-47BD-ACCD-57914C2DA442}" destId="{148DDD10-AF4A-4E1C-AB43-7B8C6A7A1A47}" srcOrd="0" destOrd="0" presId="urn:microsoft.com/office/officeart/2018/2/layout/IconCircleList"/>
    <dgm:cxn modelId="{05AA53A8-B4F5-43ED-B2EC-E86E902F98A2}" type="presParOf" srcId="{F3CC7B4B-53B3-47BD-ACCD-57914C2DA442}" destId="{970490F6-2BE9-4FBF-BF93-F99D386D0C50}" srcOrd="1" destOrd="0" presId="urn:microsoft.com/office/officeart/2018/2/layout/IconCircleList"/>
    <dgm:cxn modelId="{B18F00C4-EDCC-4D81-810D-2FE99B012A3D}" type="presParOf" srcId="{F3CC7B4B-53B3-47BD-ACCD-57914C2DA442}" destId="{2FA92150-4DF7-454A-AF81-317359FEEDCA}" srcOrd="2" destOrd="0" presId="urn:microsoft.com/office/officeart/2018/2/layout/IconCircleList"/>
    <dgm:cxn modelId="{F789D35A-DF40-424D-9F85-4B9396227656}" type="presParOf" srcId="{F3CC7B4B-53B3-47BD-ACCD-57914C2DA442}" destId="{D760F38A-4A19-4E59-9E2B-3FF36951794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B635B0-BAA1-4D9E-B427-6AF20279F4CF}" type="doc">
      <dgm:prSet loTypeId="urn:microsoft.com/office/officeart/2016/7/layout/RepeatingBendingProcessNew" loCatId="process" qsTypeId="urn:microsoft.com/office/officeart/2005/8/quickstyle/simple1#1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DDB4DEC4-C6E9-4093-A544-7F4325E91D03}">
      <dgm:prSet custT="1"/>
      <dgm:spPr/>
      <dgm:t>
        <a:bodyPr/>
        <a:lstStyle/>
        <a:p>
          <a:r>
            <a:rPr lang="en-IN" sz="1800" b="1" i="0" dirty="0">
              <a:latin typeface="Arial(body)"/>
            </a:rPr>
            <a:t>🔬 Emission &amp; Effluent Monitoring Agent</a:t>
          </a:r>
          <a:br>
            <a:rPr lang="en-IN" sz="1800" b="1" i="0" dirty="0">
              <a:latin typeface="Arial(body)"/>
            </a:rPr>
          </a:br>
          <a:r>
            <a:rPr lang="en-IN" sz="1800" b="1" i="0" dirty="0">
              <a:latin typeface="Arial(body)"/>
            </a:rPr>
            <a:t>Continuously monitors air and water sensor data and identifies abnormal readings. </a:t>
          </a:r>
          <a:endParaRPr lang="en-US" sz="1800" b="1" dirty="0">
            <a:latin typeface="Arial(body)"/>
          </a:endParaRPr>
        </a:p>
      </dgm:t>
    </dgm:pt>
    <dgm:pt modelId="{9820A0A7-784D-4CE4-B4C9-167B1D79A661}" cxnId="{4CB75E19-6141-4CE1-8E58-8C2F67E0394D}" type="parTrans">
      <dgm:prSet/>
      <dgm:spPr/>
      <dgm:t>
        <a:bodyPr/>
        <a:lstStyle/>
        <a:p>
          <a:endParaRPr lang="en-US"/>
        </a:p>
      </dgm:t>
    </dgm:pt>
    <dgm:pt modelId="{0AAFA1E4-813E-47B4-AA89-E2CEF28C291C}" cxnId="{4CB75E19-6141-4CE1-8E58-8C2F67E0394D}" type="sibTrans">
      <dgm:prSet/>
      <dgm:spPr/>
      <dgm:t>
        <a:bodyPr/>
        <a:lstStyle/>
        <a:p>
          <a:endParaRPr lang="en-US"/>
        </a:p>
      </dgm:t>
    </dgm:pt>
    <dgm:pt modelId="{BFF8FE34-A750-47B5-9505-C36B240D5A4B}">
      <dgm:prSet custT="1"/>
      <dgm:spPr/>
      <dgm:t>
        <a:bodyPr/>
        <a:lstStyle/>
        <a:p>
          <a:r>
            <a:rPr lang="en-IN" sz="1800" b="1" i="0" dirty="0">
              <a:latin typeface="Arial(body)"/>
            </a:rPr>
            <a:t>⚠️ Violation Detection &amp; Compliance Agent</a:t>
          </a:r>
          <a:br>
            <a:rPr lang="en-IN" sz="1800" b="1" i="0" dirty="0">
              <a:latin typeface="Arial(body)"/>
            </a:rPr>
          </a:br>
          <a:r>
            <a:rPr lang="en-IN" sz="1800" b="1" i="0" dirty="0">
              <a:latin typeface="Arial(body)"/>
            </a:rPr>
            <a:t>Compares sensor values with pollution thresholds and detects potential violations. </a:t>
          </a:r>
          <a:endParaRPr lang="en-US" sz="1800" b="1" dirty="0">
            <a:latin typeface="Arial(body)"/>
          </a:endParaRPr>
        </a:p>
      </dgm:t>
    </dgm:pt>
    <dgm:pt modelId="{1E9436E7-5B60-45E6-96A8-2DEE8B8183FE}" cxnId="{135482CC-08EF-4D36-A120-85E72DEFC590}" type="parTrans">
      <dgm:prSet/>
      <dgm:spPr/>
      <dgm:t>
        <a:bodyPr/>
        <a:lstStyle/>
        <a:p>
          <a:endParaRPr lang="en-US"/>
        </a:p>
      </dgm:t>
    </dgm:pt>
    <dgm:pt modelId="{D9C28E33-C71D-4740-B5FC-C323ADF727C9}" cxnId="{135482CC-08EF-4D36-A120-85E72DEFC590}" type="sibTrans">
      <dgm:prSet/>
      <dgm:spPr/>
      <dgm:t>
        <a:bodyPr/>
        <a:lstStyle/>
        <a:p>
          <a:endParaRPr lang="en-US"/>
        </a:p>
      </dgm:t>
    </dgm:pt>
    <dgm:pt modelId="{4B25F75C-47D6-4CE6-8AFD-0BEC9E13228A}">
      <dgm:prSet custT="1"/>
      <dgm:spPr/>
      <dgm:t>
        <a:bodyPr/>
        <a:lstStyle/>
        <a:p>
          <a:r>
            <a:rPr lang="en-IN" sz="1800" b="1" i="0" dirty="0">
              <a:latin typeface="Arial(body)"/>
            </a:rPr>
            <a:t>📋 Regulatory Alert &amp; Escalation Agent</a:t>
          </a:r>
          <a:br>
            <a:rPr lang="en-IN" sz="1800" b="1" i="0" dirty="0">
              <a:latin typeface="Arial(body)"/>
            </a:rPr>
          </a:br>
          <a:r>
            <a:rPr lang="en-IN" sz="1800" b="1" i="0" dirty="0">
              <a:latin typeface="Arial(body)"/>
            </a:rPr>
            <a:t>Generates alerts for serious violations and escalates critical pollution events. </a:t>
          </a:r>
          <a:endParaRPr lang="en-US" sz="1800" b="1" dirty="0">
            <a:latin typeface="Arial(body)"/>
          </a:endParaRPr>
        </a:p>
      </dgm:t>
    </dgm:pt>
    <dgm:pt modelId="{30F153A1-F6ED-4892-A252-587B086CE9D1}" cxnId="{095D99A3-070D-4896-8C7F-963611913482}" type="parTrans">
      <dgm:prSet/>
      <dgm:spPr/>
      <dgm:t>
        <a:bodyPr/>
        <a:lstStyle/>
        <a:p>
          <a:endParaRPr lang="en-US"/>
        </a:p>
      </dgm:t>
    </dgm:pt>
    <dgm:pt modelId="{BD6DD24F-9D07-4AB1-AC96-2D4A0863C63E}" cxnId="{095D99A3-070D-4896-8C7F-963611913482}" type="sibTrans">
      <dgm:prSet/>
      <dgm:spPr/>
      <dgm:t>
        <a:bodyPr/>
        <a:lstStyle/>
        <a:p>
          <a:endParaRPr lang="en-US"/>
        </a:p>
      </dgm:t>
    </dgm:pt>
    <dgm:pt modelId="{3BB90DDF-3D90-4FB4-BB85-07ACACA86604}">
      <dgm:prSet custT="1"/>
      <dgm:spPr/>
      <dgm:t>
        <a:bodyPr/>
        <a:lstStyle/>
        <a:p>
          <a:r>
            <a:rPr lang="en-IN" sz="1800" b="1" i="0" dirty="0">
              <a:latin typeface="Arial(body)"/>
            </a:rPr>
            <a:t>🏥 Public Health Risk Assessment Agent</a:t>
          </a:r>
          <a:br>
            <a:rPr lang="en-IN" sz="1800" b="1" i="0" dirty="0">
              <a:latin typeface="Arial(body)"/>
            </a:rPr>
          </a:br>
          <a:r>
            <a:rPr lang="en-IN" sz="1800" b="1" i="0" dirty="0" err="1">
              <a:latin typeface="Arial(body)"/>
            </a:rPr>
            <a:t>Analyzes</a:t>
          </a:r>
          <a:r>
            <a:rPr lang="en-IN" sz="1800" b="1" i="0" dirty="0">
              <a:latin typeface="Arial(body)"/>
            </a:rPr>
            <a:t> pollution conditions and estimates health risk levels: Low, Moderate, High, Critical. </a:t>
          </a:r>
          <a:endParaRPr lang="en-US" sz="1800" b="1" dirty="0">
            <a:latin typeface="Arial(body)"/>
          </a:endParaRPr>
        </a:p>
      </dgm:t>
    </dgm:pt>
    <dgm:pt modelId="{73B036D5-68E1-4882-87F4-C8AADB0801E9}" cxnId="{ECD298E7-F35E-40C4-A3D8-F35DDC00F196}" type="parTrans">
      <dgm:prSet/>
      <dgm:spPr/>
      <dgm:t>
        <a:bodyPr/>
        <a:lstStyle/>
        <a:p>
          <a:endParaRPr lang="en-US"/>
        </a:p>
      </dgm:t>
    </dgm:pt>
    <dgm:pt modelId="{E935638A-8B7D-4D47-B75F-69AA632F50F5}" cxnId="{ECD298E7-F35E-40C4-A3D8-F35DDC00F196}" type="sibTrans">
      <dgm:prSet/>
      <dgm:spPr/>
      <dgm:t>
        <a:bodyPr/>
        <a:lstStyle/>
        <a:p>
          <a:endParaRPr lang="en-US"/>
        </a:p>
      </dgm:t>
    </dgm:pt>
    <dgm:pt modelId="{8105257E-FB61-476C-84EE-927173E635E9}">
      <dgm:prSet custT="1"/>
      <dgm:spPr/>
      <dgm:t>
        <a:bodyPr/>
        <a:lstStyle/>
        <a:p>
          <a:r>
            <a:rPr lang="en-IN" sz="1800" b="1" i="0" dirty="0">
              <a:latin typeface="Arial(body)"/>
            </a:rPr>
            <a:t>🔍 Pollution Investigation Agent</a:t>
          </a:r>
          <a:br>
            <a:rPr lang="en-IN" sz="1800" b="1" i="0" dirty="0">
              <a:latin typeface="Arial(body)"/>
            </a:rPr>
          </a:br>
          <a:r>
            <a:rPr lang="en-IN" sz="1800" b="1" i="0" dirty="0" err="1">
              <a:latin typeface="Arial(body)"/>
            </a:rPr>
            <a:t>Analyzes</a:t>
          </a:r>
          <a:r>
            <a:rPr lang="en-IN" sz="1800" b="1" i="0" dirty="0">
              <a:latin typeface="Arial(body)"/>
            </a:rPr>
            <a:t> pollution spikes and historical data to identify possible causes and sources. </a:t>
          </a:r>
          <a:endParaRPr lang="en-US" sz="1800" b="1" dirty="0">
            <a:latin typeface="Arial(body)"/>
          </a:endParaRPr>
        </a:p>
      </dgm:t>
    </dgm:pt>
    <dgm:pt modelId="{F8F859D0-C0BC-49E4-99EE-4CF676C26F02}" cxnId="{92A1D026-DC35-4A80-8EAB-CAD199FDFA0C}" type="parTrans">
      <dgm:prSet/>
      <dgm:spPr/>
      <dgm:t>
        <a:bodyPr/>
        <a:lstStyle/>
        <a:p>
          <a:endParaRPr lang="en-US"/>
        </a:p>
      </dgm:t>
    </dgm:pt>
    <dgm:pt modelId="{15039F1E-981F-48F9-9866-531F94483BE9}" cxnId="{92A1D026-DC35-4A80-8EAB-CAD199FDFA0C}" type="sibTrans">
      <dgm:prSet/>
      <dgm:spPr/>
      <dgm:t>
        <a:bodyPr/>
        <a:lstStyle/>
        <a:p>
          <a:endParaRPr lang="en-US"/>
        </a:p>
      </dgm:t>
    </dgm:pt>
    <dgm:pt modelId="{8D116359-D1EC-4199-A05E-88663CB1302B}">
      <dgm:prSet custT="1"/>
      <dgm:spPr/>
      <dgm:t>
        <a:bodyPr/>
        <a:lstStyle/>
        <a:p>
          <a:r>
            <a:rPr lang="en-IN" sz="1800" b="1" i="0" dirty="0">
              <a:latin typeface="Arial(body)"/>
            </a:rPr>
            <a:t>📊 Industrial Pollution Dashboard Agent</a:t>
          </a:r>
          <a:br>
            <a:rPr lang="en-IN" sz="1800" b="1" i="0" dirty="0">
              <a:latin typeface="Arial(body)"/>
            </a:rPr>
          </a:br>
          <a:r>
            <a:rPr lang="en-IN" sz="1800" b="1" i="0" dirty="0">
              <a:latin typeface="Arial(body)"/>
            </a:rPr>
            <a:t>Provides a centralized real-time view of monitoring, violations, alerts, risks, analytics, and AI reports.</a:t>
          </a:r>
          <a:endParaRPr lang="en-US" sz="1800" b="1" dirty="0">
            <a:latin typeface="Arial(body)"/>
          </a:endParaRPr>
        </a:p>
      </dgm:t>
    </dgm:pt>
    <dgm:pt modelId="{735D552B-9459-4792-BB63-9AAD616FD1B4}" cxnId="{069BBC0E-8FB2-4257-A1CD-7C6CB7D2B052}" type="parTrans">
      <dgm:prSet/>
      <dgm:spPr/>
      <dgm:t>
        <a:bodyPr/>
        <a:lstStyle/>
        <a:p>
          <a:endParaRPr lang="en-US"/>
        </a:p>
      </dgm:t>
    </dgm:pt>
    <dgm:pt modelId="{E851B0C0-9D7B-4378-8BD2-AF42BC3BC2AD}" cxnId="{069BBC0E-8FB2-4257-A1CD-7C6CB7D2B052}" type="sibTrans">
      <dgm:prSet/>
      <dgm:spPr/>
      <dgm:t>
        <a:bodyPr/>
        <a:lstStyle/>
        <a:p>
          <a:endParaRPr lang="en-US"/>
        </a:p>
      </dgm:t>
    </dgm:pt>
    <dgm:pt modelId="{B5A00970-96F0-4B33-9616-256BF8DEC05E}" type="pres">
      <dgm:prSet presAssocID="{A0B635B0-BAA1-4D9E-B427-6AF20279F4CF}" presName="Name0" presStyleCnt="0">
        <dgm:presLayoutVars>
          <dgm:dir/>
          <dgm:resizeHandles val="exact"/>
        </dgm:presLayoutVars>
      </dgm:prSet>
      <dgm:spPr/>
    </dgm:pt>
    <dgm:pt modelId="{8CE432DC-A6CC-4456-84A5-50262BB7C9D8}" type="pres">
      <dgm:prSet presAssocID="{DDB4DEC4-C6E9-4093-A544-7F4325E91D03}" presName="node" presStyleLbl="node1" presStyleIdx="0" presStyleCnt="6">
        <dgm:presLayoutVars>
          <dgm:bulletEnabled val="1"/>
        </dgm:presLayoutVars>
      </dgm:prSet>
      <dgm:spPr/>
    </dgm:pt>
    <dgm:pt modelId="{B9530A36-40B3-46EC-9ACA-5C20ADE867E6}" type="pres">
      <dgm:prSet presAssocID="{0AAFA1E4-813E-47B4-AA89-E2CEF28C291C}" presName="sibTrans" presStyleLbl="sibTrans1D1" presStyleIdx="0" presStyleCnt="5"/>
      <dgm:spPr/>
    </dgm:pt>
    <dgm:pt modelId="{0A11319F-5FC2-4762-8729-373D2B62EA44}" type="pres">
      <dgm:prSet presAssocID="{0AAFA1E4-813E-47B4-AA89-E2CEF28C291C}" presName="connectorText" presStyleLbl="sibTrans1D1" presStyleIdx="0" presStyleCnt="5"/>
      <dgm:spPr/>
    </dgm:pt>
    <dgm:pt modelId="{5A9C51E3-7B99-47AB-8C97-770CA296CC04}" type="pres">
      <dgm:prSet presAssocID="{BFF8FE34-A750-47B5-9505-C36B240D5A4B}" presName="node" presStyleLbl="node1" presStyleIdx="1" presStyleCnt="6">
        <dgm:presLayoutVars>
          <dgm:bulletEnabled val="1"/>
        </dgm:presLayoutVars>
      </dgm:prSet>
      <dgm:spPr/>
    </dgm:pt>
    <dgm:pt modelId="{1DA75E48-FC12-4D96-86B3-CA173F1DDDD5}" type="pres">
      <dgm:prSet presAssocID="{D9C28E33-C71D-4740-B5FC-C323ADF727C9}" presName="sibTrans" presStyleLbl="sibTrans1D1" presStyleIdx="1" presStyleCnt="5"/>
      <dgm:spPr/>
    </dgm:pt>
    <dgm:pt modelId="{05E61B61-68CD-4D17-B3D0-B9FDD88987AC}" type="pres">
      <dgm:prSet presAssocID="{D9C28E33-C71D-4740-B5FC-C323ADF727C9}" presName="connectorText" presStyleLbl="sibTrans1D1" presStyleIdx="1" presStyleCnt="5"/>
      <dgm:spPr/>
    </dgm:pt>
    <dgm:pt modelId="{C5D52704-4A56-43E3-BB6E-645BF6D8682D}" type="pres">
      <dgm:prSet presAssocID="{4B25F75C-47D6-4CE6-8AFD-0BEC9E13228A}" presName="node" presStyleLbl="node1" presStyleIdx="2" presStyleCnt="6">
        <dgm:presLayoutVars>
          <dgm:bulletEnabled val="1"/>
        </dgm:presLayoutVars>
      </dgm:prSet>
      <dgm:spPr/>
    </dgm:pt>
    <dgm:pt modelId="{890EEF45-2DB5-47CD-9828-E5F83E880C02}" type="pres">
      <dgm:prSet presAssocID="{BD6DD24F-9D07-4AB1-AC96-2D4A0863C63E}" presName="sibTrans" presStyleLbl="sibTrans1D1" presStyleIdx="2" presStyleCnt="5"/>
      <dgm:spPr/>
    </dgm:pt>
    <dgm:pt modelId="{7DADF32A-27EF-4E81-AE1A-E0F512C7779B}" type="pres">
      <dgm:prSet presAssocID="{BD6DD24F-9D07-4AB1-AC96-2D4A0863C63E}" presName="connectorText" presStyleLbl="sibTrans1D1" presStyleIdx="2" presStyleCnt="5"/>
      <dgm:spPr/>
    </dgm:pt>
    <dgm:pt modelId="{B49315AD-A4E5-4437-B1A0-D66E846DE341}" type="pres">
      <dgm:prSet presAssocID="{3BB90DDF-3D90-4FB4-BB85-07ACACA86604}" presName="node" presStyleLbl="node1" presStyleIdx="3" presStyleCnt="6">
        <dgm:presLayoutVars>
          <dgm:bulletEnabled val="1"/>
        </dgm:presLayoutVars>
      </dgm:prSet>
      <dgm:spPr/>
    </dgm:pt>
    <dgm:pt modelId="{9CE21206-DFA7-4323-A87C-3D5F760A69F0}" type="pres">
      <dgm:prSet presAssocID="{E935638A-8B7D-4D47-B75F-69AA632F50F5}" presName="sibTrans" presStyleLbl="sibTrans1D1" presStyleIdx="3" presStyleCnt="5"/>
      <dgm:spPr/>
    </dgm:pt>
    <dgm:pt modelId="{48BD59F7-10F0-479F-91C2-07D7091CF876}" type="pres">
      <dgm:prSet presAssocID="{E935638A-8B7D-4D47-B75F-69AA632F50F5}" presName="connectorText" presStyleLbl="sibTrans1D1" presStyleIdx="3" presStyleCnt="5"/>
      <dgm:spPr/>
    </dgm:pt>
    <dgm:pt modelId="{2286EB01-0CF5-43E3-9442-F33EE3BAE243}" type="pres">
      <dgm:prSet presAssocID="{8105257E-FB61-476C-84EE-927173E635E9}" presName="node" presStyleLbl="node1" presStyleIdx="4" presStyleCnt="6">
        <dgm:presLayoutVars>
          <dgm:bulletEnabled val="1"/>
        </dgm:presLayoutVars>
      </dgm:prSet>
      <dgm:spPr/>
    </dgm:pt>
    <dgm:pt modelId="{F3AD7457-22DA-4CC6-8BD9-E987F97EF083}" type="pres">
      <dgm:prSet presAssocID="{15039F1E-981F-48F9-9866-531F94483BE9}" presName="sibTrans" presStyleLbl="sibTrans1D1" presStyleIdx="4" presStyleCnt="5"/>
      <dgm:spPr/>
    </dgm:pt>
    <dgm:pt modelId="{3264A5D5-CC88-41D8-8F24-7066C87A41EA}" type="pres">
      <dgm:prSet presAssocID="{15039F1E-981F-48F9-9866-531F94483BE9}" presName="connectorText" presStyleLbl="sibTrans1D1" presStyleIdx="4" presStyleCnt="5"/>
      <dgm:spPr/>
    </dgm:pt>
    <dgm:pt modelId="{456FE2D6-07FF-48F8-948A-6C1580B10CB0}" type="pres">
      <dgm:prSet presAssocID="{8D116359-D1EC-4199-A05E-88663CB1302B}" presName="node" presStyleLbl="node1" presStyleIdx="5" presStyleCnt="6">
        <dgm:presLayoutVars>
          <dgm:bulletEnabled val="1"/>
        </dgm:presLayoutVars>
      </dgm:prSet>
      <dgm:spPr/>
    </dgm:pt>
  </dgm:ptLst>
  <dgm:cxnLst>
    <dgm:cxn modelId="{069BBC0E-8FB2-4257-A1CD-7C6CB7D2B052}" srcId="{A0B635B0-BAA1-4D9E-B427-6AF20279F4CF}" destId="{8D116359-D1EC-4199-A05E-88663CB1302B}" srcOrd="5" destOrd="0" parTransId="{735D552B-9459-4792-BB63-9AAD616FD1B4}" sibTransId="{E851B0C0-9D7B-4378-8BD2-AF42BC3BC2AD}"/>
    <dgm:cxn modelId="{504D7118-7351-4F71-A25A-DB02D8202D57}" type="presOf" srcId="{BFF8FE34-A750-47B5-9505-C36B240D5A4B}" destId="{5A9C51E3-7B99-47AB-8C97-770CA296CC04}" srcOrd="0" destOrd="0" presId="urn:microsoft.com/office/officeart/2016/7/layout/RepeatingBendingProcessNew"/>
    <dgm:cxn modelId="{4CB75E19-6141-4CE1-8E58-8C2F67E0394D}" srcId="{A0B635B0-BAA1-4D9E-B427-6AF20279F4CF}" destId="{DDB4DEC4-C6E9-4093-A544-7F4325E91D03}" srcOrd="0" destOrd="0" parTransId="{9820A0A7-784D-4CE4-B4C9-167B1D79A661}" sibTransId="{0AAFA1E4-813E-47B4-AA89-E2CEF28C291C}"/>
    <dgm:cxn modelId="{E810011C-DB39-4AD0-8246-254C0C7D966C}" type="presOf" srcId="{8D116359-D1EC-4199-A05E-88663CB1302B}" destId="{456FE2D6-07FF-48F8-948A-6C1580B10CB0}" srcOrd="0" destOrd="0" presId="urn:microsoft.com/office/officeart/2016/7/layout/RepeatingBendingProcessNew"/>
    <dgm:cxn modelId="{46274F21-F49A-4C67-BD91-4D4E8DB35D9D}" type="presOf" srcId="{E935638A-8B7D-4D47-B75F-69AA632F50F5}" destId="{48BD59F7-10F0-479F-91C2-07D7091CF876}" srcOrd="1" destOrd="0" presId="urn:microsoft.com/office/officeart/2016/7/layout/RepeatingBendingProcessNew"/>
    <dgm:cxn modelId="{92A1D026-DC35-4A80-8EAB-CAD199FDFA0C}" srcId="{A0B635B0-BAA1-4D9E-B427-6AF20279F4CF}" destId="{8105257E-FB61-476C-84EE-927173E635E9}" srcOrd="4" destOrd="0" parTransId="{F8F859D0-C0BC-49E4-99EE-4CF676C26F02}" sibTransId="{15039F1E-981F-48F9-9866-531F94483BE9}"/>
    <dgm:cxn modelId="{D6187630-A3EB-442F-9329-78632E9814C9}" type="presOf" srcId="{D9C28E33-C71D-4740-B5FC-C323ADF727C9}" destId="{1DA75E48-FC12-4D96-86B3-CA173F1DDDD5}" srcOrd="0" destOrd="0" presId="urn:microsoft.com/office/officeart/2016/7/layout/RepeatingBendingProcessNew"/>
    <dgm:cxn modelId="{D4081E3B-A3EF-4DF9-A713-81339A0D822F}" type="presOf" srcId="{BD6DD24F-9D07-4AB1-AC96-2D4A0863C63E}" destId="{890EEF45-2DB5-47CD-9828-E5F83E880C02}" srcOrd="0" destOrd="0" presId="urn:microsoft.com/office/officeart/2016/7/layout/RepeatingBendingProcessNew"/>
    <dgm:cxn modelId="{6D12FB44-D784-49BF-9188-6C4F6C56E927}" type="presOf" srcId="{E935638A-8B7D-4D47-B75F-69AA632F50F5}" destId="{9CE21206-DFA7-4323-A87C-3D5F760A69F0}" srcOrd="0" destOrd="0" presId="urn:microsoft.com/office/officeart/2016/7/layout/RepeatingBendingProcessNew"/>
    <dgm:cxn modelId="{0144AA4A-0D3B-43B7-A8D2-BE48178240BC}" type="presOf" srcId="{DDB4DEC4-C6E9-4093-A544-7F4325E91D03}" destId="{8CE432DC-A6CC-4456-84A5-50262BB7C9D8}" srcOrd="0" destOrd="0" presId="urn:microsoft.com/office/officeart/2016/7/layout/RepeatingBendingProcessNew"/>
    <dgm:cxn modelId="{96C52B52-A383-4ACA-8E87-2EA30878AB59}" type="presOf" srcId="{15039F1E-981F-48F9-9866-531F94483BE9}" destId="{3264A5D5-CC88-41D8-8F24-7066C87A41EA}" srcOrd="1" destOrd="0" presId="urn:microsoft.com/office/officeart/2016/7/layout/RepeatingBendingProcessNew"/>
    <dgm:cxn modelId="{82D51975-10F6-4760-8745-8B38F22F00B1}" type="presOf" srcId="{4B25F75C-47D6-4CE6-8AFD-0BEC9E13228A}" destId="{C5D52704-4A56-43E3-BB6E-645BF6D8682D}" srcOrd="0" destOrd="0" presId="urn:microsoft.com/office/officeart/2016/7/layout/RepeatingBendingProcessNew"/>
    <dgm:cxn modelId="{6792DF57-75F7-4B3D-A808-2E6C613F3BDF}" type="presOf" srcId="{BD6DD24F-9D07-4AB1-AC96-2D4A0863C63E}" destId="{7DADF32A-27EF-4E81-AE1A-E0F512C7779B}" srcOrd="1" destOrd="0" presId="urn:microsoft.com/office/officeart/2016/7/layout/RepeatingBendingProcessNew"/>
    <dgm:cxn modelId="{D56A2D7C-D782-408D-8C51-C91FFD209CBA}" type="presOf" srcId="{D9C28E33-C71D-4740-B5FC-C323ADF727C9}" destId="{05E61B61-68CD-4D17-B3D0-B9FDD88987AC}" srcOrd="1" destOrd="0" presId="urn:microsoft.com/office/officeart/2016/7/layout/RepeatingBendingProcessNew"/>
    <dgm:cxn modelId="{F5386599-E8DD-424F-AAF0-8109BAC185E9}" type="presOf" srcId="{A0B635B0-BAA1-4D9E-B427-6AF20279F4CF}" destId="{B5A00970-96F0-4B33-9616-256BF8DEC05E}" srcOrd="0" destOrd="0" presId="urn:microsoft.com/office/officeart/2016/7/layout/RepeatingBendingProcessNew"/>
    <dgm:cxn modelId="{09E0CA9B-ACDC-465D-89A2-BE627763BA31}" type="presOf" srcId="{8105257E-FB61-476C-84EE-927173E635E9}" destId="{2286EB01-0CF5-43E3-9442-F33EE3BAE243}" srcOrd="0" destOrd="0" presId="urn:microsoft.com/office/officeart/2016/7/layout/RepeatingBendingProcessNew"/>
    <dgm:cxn modelId="{095D99A3-070D-4896-8C7F-963611913482}" srcId="{A0B635B0-BAA1-4D9E-B427-6AF20279F4CF}" destId="{4B25F75C-47D6-4CE6-8AFD-0BEC9E13228A}" srcOrd="2" destOrd="0" parTransId="{30F153A1-F6ED-4892-A252-587B086CE9D1}" sibTransId="{BD6DD24F-9D07-4AB1-AC96-2D4A0863C63E}"/>
    <dgm:cxn modelId="{A99E03A8-0122-402E-9C68-267B57120ED4}" type="presOf" srcId="{3BB90DDF-3D90-4FB4-BB85-07ACACA86604}" destId="{B49315AD-A4E5-4437-B1A0-D66E846DE341}" srcOrd="0" destOrd="0" presId="urn:microsoft.com/office/officeart/2016/7/layout/RepeatingBendingProcessNew"/>
    <dgm:cxn modelId="{4A84FDAA-E683-4C7B-BD30-A6D05075F1B1}" type="presOf" srcId="{0AAFA1E4-813E-47B4-AA89-E2CEF28C291C}" destId="{B9530A36-40B3-46EC-9ACA-5C20ADE867E6}" srcOrd="0" destOrd="0" presId="urn:microsoft.com/office/officeart/2016/7/layout/RepeatingBendingProcessNew"/>
    <dgm:cxn modelId="{019256C0-B85A-4A0A-B501-238C2A665F76}" type="presOf" srcId="{15039F1E-981F-48F9-9866-531F94483BE9}" destId="{F3AD7457-22DA-4CC6-8BD9-E987F97EF083}" srcOrd="0" destOrd="0" presId="urn:microsoft.com/office/officeart/2016/7/layout/RepeatingBendingProcessNew"/>
    <dgm:cxn modelId="{135482CC-08EF-4D36-A120-85E72DEFC590}" srcId="{A0B635B0-BAA1-4D9E-B427-6AF20279F4CF}" destId="{BFF8FE34-A750-47B5-9505-C36B240D5A4B}" srcOrd="1" destOrd="0" parTransId="{1E9436E7-5B60-45E6-96A8-2DEE8B8183FE}" sibTransId="{D9C28E33-C71D-4740-B5FC-C323ADF727C9}"/>
    <dgm:cxn modelId="{CFC9D7D4-2B65-46E4-AD80-8A1ACEAC0B05}" type="presOf" srcId="{0AAFA1E4-813E-47B4-AA89-E2CEF28C291C}" destId="{0A11319F-5FC2-4762-8729-373D2B62EA44}" srcOrd="1" destOrd="0" presId="urn:microsoft.com/office/officeart/2016/7/layout/RepeatingBendingProcessNew"/>
    <dgm:cxn modelId="{ECD298E7-F35E-40C4-A3D8-F35DDC00F196}" srcId="{A0B635B0-BAA1-4D9E-B427-6AF20279F4CF}" destId="{3BB90DDF-3D90-4FB4-BB85-07ACACA86604}" srcOrd="3" destOrd="0" parTransId="{73B036D5-68E1-4882-87F4-C8AADB0801E9}" sibTransId="{E935638A-8B7D-4D47-B75F-69AA632F50F5}"/>
    <dgm:cxn modelId="{1B95AE9A-996B-47F1-8E97-79D3EDDFBA69}" type="presParOf" srcId="{B5A00970-96F0-4B33-9616-256BF8DEC05E}" destId="{8CE432DC-A6CC-4456-84A5-50262BB7C9D8}" srcOrd="0" destOrd="0" presId="urn:microsoft.com/office/officeart/2016/7/layout/RepeatingBendingProcessNew"/>
    <dgm:cxn modelId="{537EEE05-88A3-42DC-9389-086F34262BC1}" type="presParOf" srcId="{B5A00970-96F0-4B33-9616-256BF8DEC05E}" destId="{B9530A36-40B3-46EC-9ACA-5C20ADE867E6}" srcOrd="1" destOrd="0" presId="urn:microsoft.com/office/officeart/2016/7/layout/RepeatingBendingProcessNew"/>
    <dgm:cxn modelId="{ED6C1F2D-6F63-4D67-A48F-C461B9A8A3B5}" type="presParOf" srcId="{B9530A36-40B3-46EC-9ACA-5C20ADE867E6}" destId="{0A11319F-5FC2-4762-8729-373D2B62EA44}" srcOrd="0" destOrd="0" presId="urn:microsoft.com/office/officeart/2016/7/layout/RepeatingBendingProcessNew"/>
    <dgm:cxn modelId="{21D9DBC4-8543-4600-BA5C-8B178D68F685}" type="presParOf" srcId="{B5A00970-96F0-4B33-9616-256BF8DEC05E}" destId="{5A9C51E3-7B99-47AB-8C97-770CA296CC04}" srcOrd="2" destOrd="0" presId="urn:microsoft.com/office/officeart/2016/7/layout/RepeatingBendingProcessNew"/>
    <dgm:cxn modelId="{9AEAECF9-F979-455A-ACDA-158143AA91C1}" type="presParOf" srcId="{B5A00970-96F0-4B33-9616-256BF8DEC05E}" destId="{1DA75E48-FC12-4D96-86B3-CA173F1DDDD5}" srcOrd="3" destOrd="0" presId="urn:microsoft.com/office/officeart/2016/7/layout/RepeatingBendingProcessNew"/>
    <dgm:cxn modelId="{2B390B03-7AE8-4FA8-A566-7B99BC9F8A7D}" type="presParOf" srcId="{1DA75E48-FC12-4D96-86B3-CA173F1DDDD5}" destId="{05E61B61-68CD-4D17-B3D0-B9FDD88987AC}" srcOrd="0" destOrd="0" presId="urn:microsoft.com/office/officeart/2016/7/layout/RepeatingBendingProcessNew"/>
    <dgm:cxn modelId="{FA76EC49-A91A-42A2-9D73-0FCA251D7E01}" type="presParOf" srcId="{B5A00970-96F0-4B33-9616-256BF8DEC05E}" destId="{C5D52704-4A56-43E3-BB6E-645BF6D8682D}" srcOrd="4" destOrd="0" presId="urn:microsoft.com/office/officeart/2016/7/layout/RepeatingBendingProcessNew"/>
    <dgm:cxn modelId="{172B3379-8FE5-4850-92B9-6BDA791457E4}" type="presParOf" srcId="{B5A00970-96F0-4B33-9616-256BF8DEC05E}" destId="{890EEF45-2DB5-47CD-9828-E5F83E880C02}" srcOrd="5" destOrd="0" presId="urn:microsoft.com/office/officeart/2016/7/layout/RepeatingBendingProcessNew"/>
    <dgm:cxn modelId="{40C0589C-9D5F-4A5E-A3BC-D60369FBECF7}" type="presParOf" srcId="{890EEF45-2DB5-47CD-9828-E5F83E880C02}" destId="{7DADF32A-27EF-4E81-AE1A-E0F512C7779B}" srcOrd="0" destOrd="0" presId="urn:microsoft.com/office/officeart/2016/7/layout/RepeatingBendingProcessNew"/>
    <dgm:cxn modelId="{08A55731-4A25-435B-A1C8-66E4104E0FFE}" type="presParOf" srcId="{B5A00970-96F0-4B33-9616-256BF8DEC05E}" destId="{B49315AD-A4E5-4437-B1A0-D66E846DE341}" srcOrd="6" destOrd="0" presId="urn:microsoft.com/office/officeart/2016/7/layout/RepeatingBendingProcessNew"/>
    <dgm:cxn modelId="{6AED2512-E476-4A14-9BDE-D2D500537F01}" type="presParOf" srcId="{B5A00970-96F0-4B33-9616-256BF8DEC05E}" destId="{9CE21206-DFA7-4323-A87C-3D5F760A69F0}" srcOrd="7" destOrd="0" presId="urn:microsoft.com/office/officeart/2016/7/layout/RepeatingBendingProcessNew"/>
    <dgm:cxn modelId="{18126CF1-A6F9-4902-A506-2390E3643670}" type="presParOf" srcId="{9CE21206-DFA7-4323-A87C-3D5F760A69F0}" destId="{48BD59F7-10F0-479F-91C2-07D7091CF876}" srcOrd="0" destOrd="0" presId="urn:microsoft.com/office/officeart/2016/7/layout/RepeatingBendingProcessNew"/>
    <dgm:cxn modelId="{3A656374-CE4B-415D-B489-DC36F65C8683}" type="presParOf" srcId="{B5A00970-96F0-4B33-9616-256BF8DEC05E}" destId="{2286EB01-0CF5-43E3-9442-F33EE3BAE243}" srcOrd="8" destOrd="0" presId="urn:microsoft.com/office/officeart/2016/7/layout/RepeatingBendingProcessNew"/>
    <dgm:cxn modelId="{CF1DEA56-95D7-48E6-BE4F-91AA2DA11B72}" type="presParOf" srcId="{B5A00970-96F0-4B33-9616-256BF8DEC05E}" destId="{F3AD7457-22DA-4CC6-8BD9-E987F97EF083}" srcOrd="9" destOrd="0" presId="urn:microsoft.com/office/officeart/2016/7/layout/RepeatingBendingProcessNew"/>
    <dgm:cxn modelId="{143DF366-8B3C-46CA-B53A-04E576EECB05}" type="presParOf" srcId="{F3AD7457-22DA-4CC6-8BD9-E987F97EF083}" destId="{3264A5D5-CC88-41D8-8F24-7066C87A41EA}" srcOrd="0" destOrd="0" presId="urn:microsoft.com/office/officeart/2016/7/layout/RepeatingBendingProcessNew"/>
    <dgm:cxn modelId="{14503FD1-7931-4FEE-94AC-F96A1FAA02EE}" type="presParOf" srcId="{B5A00970-96F0-4B33-9616-256BF8DEC05E}" destId="{456FE2D6-07FF-48F8-948A-6C1580B10CB0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700387" cy="3846732"/>
        <a:chOff x="0" y="0"/>
        <a:chExt cx="11700387" cy="3846732"/>
      </a:xfrm>
    </dsp:grpSpPr>
    <dsp:sp modelId="{6FE7C54A-B697-4CE7-953B-0A07BB09D1FB}">
      <dsp:nvSpPr>
        <dsp:cNvPr id="3" name="Rounded Rectangle 2"/>
        <dsp:cNvSpPr/>
      </dsp:nvSpPr>
      <dsp:spPr bwMode="white">
        <a:xfrm>
          <a:off x="0" y="545974"/>
          <a:ext cx="3331493" cy="233463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545974"/>
        <a:ext cx="3331493" cy="2334635"/>
      </dsp:txXfrm>
    </dsp:sp>
    <dsp:sp modelId="{425D05E8-F253-4413-B22F-9C066CDFCD68}">
      <dsp:nvSpPr>
        <dsp:cNvPr id="4" name="Rounded Rectangle 3"/>
        <dsp:cNvSpPr/>
      </dsp:nvSpPr>
      <dsp:spPr bwMode="white">
        <a:xfrm>
          <a:off x="332387" y="861741"/>
          <a:ext cx="3331493" cy="2334635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b="1" dirty="0">
              <a:solidFill>
                <a:schemeClr val="dk1"/>
              </a:solidFill>
              <a:latin typeface="Arial(body)"/>
            </a:rPr>
            <a:t>The Vapi–</a:t>
          </a:r>
          <a:r>
            <a:rPr lang="en-IN" b="1" dirty="0" err="1">
              <a:solidFill>
                <a:schemeClr val="dk1"/>
              </a:solidFill>
              <a:latin typeface="Arial(body)"/>
            </a:rPr>
            <a:t>Ankleshwar</a:t>
          </a:r>
          <a:r>
            <a:rPr lang="en-IN" b="1" dirty="0">
              <a:solidFill>
                <a:schemeClr val="dk1"/>
              </a:solidFill>
              <a:latin typeface="Arial(body)"/>
            </a:rPr>
            <a:t>–</a:t>
          </a:r>
          <a:r>
            <a:rPr lang="en-IN" b="1" dirty="0" err="1">
              <a:solidFill>
                <a:schemeClr val="dk1"/>
              </a:solidFill>
              <a:latin typeface="Arial(body)"/>
            </a:rPr>
            <a:t>Vatva</a:t>
          </a:r>
          <a:r>
            <a:rPr lang="en-IN" b="1" dirty="0">
              <a:solidFill>
                <a:schemeClr val="dk1"/>
              </a:solidFill>
              <a:latin typeface="Arial(body)"/>
            </a:rPr>
            <a:t> Golden Corridor has a high concentration of chemical, pharmaceutical and manufacturing industries, creating risks of air pollution, industrial effluents, chemical contamination, high COD/BOD, PM2.5/PM10, SO₂/NO₂, abnormal pH and high TDS.</a:t>
          </a:r>
          <a:endParaRPr lang="en-IN" b="1" dirty="0">
            <a:solidFill>
              <a:schemeClr val="dk1"/>
            </a:solidFill>
            <a:latin typeface="Arial(body)"/>
          </a:endParaRPr>
        </a:p>
      </dsp:txBody>
      <dsp:txXfrm>
        <a:off x="332387" y="861741"/>
        <a:ext cx="3331493" cy="2334635"/>
      </dsp:txXfrm>
    </dsp:sp>
    <dsp:sp modelId="{6B206D4A-B468-4443-B834-A9600469922F}">
      <dsp:nvSpPr>
        <dsp:cNvPr id="5" name="Rounded Rectangle 4"/>
        <dsp:cNvSpPr/>
      </dsp:nvSpPr>
      <dsp:spPr bwMode="white">
        <a:xfrm>
          <a:off x="3996266" y="545974"/>
          <a:ext cx="3408523" cy="2439017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3996266" y="545974"/>
        <a:ext cx="3408523" cy="2439017"/>
      </dsp:txXfrm>
    </dsp:sp>
    <dsp:sp modelId="{EA8DC4AA-1AD0-4A63-B30B-BFF748426C0B}">
      <dsp:nvSpPr>
        <dsp:cNvPr id="6" name="Rounded Rectangle 5"/>
        <dsp:cNvSpPr/>
      </dsp:nvSpPr>
      <dsp:spPr bwMode="white">
        <a:xfrm>
          <a:off x="4328653" y="861741"/>
          <a:ext cx="3408523" cy="2439017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3340" tIns="53340" rIns="53340" bIns="5334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b="1" dirty="0">
              <a:solidFill>
                <a:schemeClr val="dk1"/>
              </a:solidFill>
              <a:latin typeface="Arial(body)"/>
            </a:rPr>
            <a:t>Current monitoring often relies on periodic inspections and manual reporting, leading to delayed pollution detection, limited real-time visibility, difficulty monitoring multiple industries, slow regulatory response, manual compliance reporting and limited public-health risk assessment.</a:t>
          </a:r>
          <a:endParaRPr lang="en-US" b="1" dirty="0">
            <a:solidFill>
              <a:schemeClr val="dk1"/>
            </a:solidFill>
            <a:latin typeface="Arial(body)"/>
          </a:endParaRPr>
        </a:p>
      </dsp:txBody>
      <dsp:txXfrm>
        <a:off x="4328653" y="861741"/>
        <a:ext cx="3408523" cy="2439017"/>
      </dsp:txXfrm>
    </dsp:sp>
    <dsp:sp modelId="{1768DE7C-1B2C-4A34-9691-BB9CFCBB8383}">
      <dsp:nvSpPr>
        <dsp:cNvPr id="7" name="Rounded Rectangle 6"/>
        <dsp:cNvSpPr/>
      </dsp:nvSpPr>
      <dsp:spPr bwMode="white">
        <a:xfrm>
          <a:off x="8069563" y="545974"/>
          <a:ext cx="3298437" cy="2392021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8069563" y="545974"/>
        <a:ext cx="3298437" cy="2392021"/>
      </dsp:txXfrm>
    </dsp:sp>
    <dsp:sp modelId="{E8B9A697-86BC-4622-8DAB-57183BD971A7}">
      <dsp:nvSpPr>
        <dsp:cNvPr id="8" name="Rounded Rectangle 7"/>
        <dsp:cNvSpPr/>
      </dsp:nvSpPr>
      <dsp:spPr bwMode="white">
        <a:xfrm>
          <a:off x="8401950" y="861741"/>
          <a:ext cx="3298437" cy="2392021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68580" tIns="68580" rIns="68580" bIns="6858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dirty="0">
              <a:solidFill>
                <a:schemeClr val="dk1"/>
              </a:solidFill>
              <a:latin typeface="Arial(body)"/>
            </a:rPr>
            <a:t>Therefore, an intelligent and continuous monitoring system is needed to detect pollution in real time, identify violations, assess risks and support faster regulatory action.</a:t>
          </a:r>
          <a:endParaRPr lang="en-IN" sz="1500" b="1" dirty="0">
            <a:solidFill>
              <a:schemeClr val="dk1"/>
            </a:solidFill>
            <a:latin typeface="Arial(body)"/>
          </a:endParaRPr>
        </a:p>
      </dsp:txBody>
      <dsp:txXfrm>
        <a:off x="8401950" y="861741"/>
        <a:ext cx="3298437" cy="23920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895370" cy="3404277"/>
        <a:chOff x="0" y="0"/>
        <a:chExt cx="10895370" cy="3404277"/>
      </a:xfrm>
    </dsp:grpSpPr>
    <dsp:sp modelId="{9C1C4AC8-32E8-4D17-A36E-1BFEA1A4A271}">
      <dsp:nvSpPr>
        <dsp:cNvPr id="3" name="Oval 2"/>
        <dsp:cNvSpPr/>
      </dsp:nvSpPr>
      <dsp:spPr bwMode="white">
        <a:xfrm>
          <a:off x="1643167" y="-100"/>
          <a:ext cx="1007529" cy="1007529"/>
        </a:xfrm>
        <a:prstGeom prst="ellipse">
          <a:avLst/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1643167" y="-100"/>
        <a:ext cx="1007529" cy="1007529"/>
      </dsp:txXfrm>
    </dsp:sp>
    <dsp:sp modelId="{35E24229-21E3-4BC0-A3D8-A6AB33B5700B}">
      <dsp:nvSpPr>
        <dsp:cNvPr id="4" name="Rectangle 3"/>
        <dsp:cNvSpPr/>
      </dsp:nvSpPr>
      <dsp:spPr bwMode="white">
        <a:xfrm>
          <a:off x="1854748" y="211481"/>
          <a:ext cx="584367" cy="584367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sp:spPr>
      <dsp:style>
        <a:lnRef idx="2">
          <a:schemeClr val="lt1">
            <a:alpha val="0"/>
          </a:schemeClr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1854748" y="211481"/>
        <a:ext cx="584367" cy="584367"/>
      </dsp:txXfrm>
    </dsp:sp>
    <dsp:sp modelId="{DBF038C0-DF10-4189-B76F-396557026894}">
      <dsp:nvSpPr>
        <dsp:cNvPr id="5" name="Rectangle 4"/>
        <dsp:cNvSpPr/>
      </dsp:nvSpPr>
      <dsp:spPr bwMode="white">
        <a:xfrm>
          <a:off x="2866595" y="-100"/>
          <a:ext cx="2374890" cy="100752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200" b="1" i="0" dirty="0">
              <a:solidFill>
                <a:schemeClr val="tx1"/>
              </a:solidFill>
              <a:latin typeface="Arial(body)"/>
            </a:rPr>
            <a:t>Frontend: React.js, JavaScript, Axios, Chart.js, CSS, React Context API</a:t>
          </a:r>
          <a:endParaRPr lang="en-US" sz="1200" b="1" dirty="0">
            <a:solidFill>
              <a:schemeClr val="tx1"/>
            </a:solidFill>
            <a:latin typeface="Arial(body)"/>
          </a:endParaRPr>
        </a:p>
      </dsp:txBody>
      <dsp:txXfrm>
        <a:off x="2866595" y="-100"/>
        <a:ext cx="2374890" cy="1007529"/>
      </dsp:txXfrm>
    </dsp:sp>
    <dsp:sp modelId="{F6DDC7B5-E3EA-4537-9D0F-958C5581126F}">
      <dsp:nvSpPr>
        <dsp:cNvPr id="6" name="Oval 5"/>
        <dsp:cNvSpPr/>
      </dsp:nvSpPr>
      <dsp:spPr bwMode="white">
        <a:xfrm>
          <a:off x="5655292" y="-100"/>
          <a:ext cx="1007529" cy="1007529"/>
        </a:xfrm>
        <a:prstGeom prst="ellipse">
          <a:avLst/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5655292" y="-100"/>
        <a:ext cx="1007529" cy="1007529"/>
      </dsp:txXfrm>
    </dsp:sp>
    <dsp:sp modelId="{2584963E-A32C-402C-BBCC-EEFE831397A0}">
      <dsp:nvSpPr>
        <dsp:cNvPr id="7" name="Rectangle 6"/>
        <dsp:cNvSpPr/>
      </dsp:nvSpPr>
      <dsp:spPr bwMode="white">
        <a:xfrm>
          <a:off x="5866873" y="211481"/>
          <a:ext cx="584367" cy="584367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sp:spPr>
      <dsp:style>
        <a:lnRef idx="2">
          <a:schemeClr val="lt1">
            <a:alpha val="0"/>
          </a:schemeClr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Xfrm>
        <a:off x="5866873" y="211481"/>
        <a:ext cx="584367" cy="584367"/>
      </dsp:txXfrm>
    </dsp:sp>
    <dsp:sp modelId="{95DE9544-2B99-48C9-B9BD-98F22CCD84FB}">
      <dsp:nvSpPr>
        <dsp:cNvPr id="8" name="Rectangle 7"/>
        <dsp:cNvSpPr/>
      </dsp:nvSpPr>
      <dsp:spPr bwMode="white">
        <a:xfrm>
          <a:off x="6878720" y="-100"/>
          <a:ext cx="2374890" cy="100752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200" b="1" i="0" dirty="0">
              <a:solidFill>
                <a:schemeClr val="tx1"/>
              </a:solidFill>
              <a:latin typeface="Arial(body)"/>
            </a:rPr>
            <a:t>Backend: Node.js, Express.js, REST APIs, JWT Authentication, </a:t>
          </a:r>
          <a:r>
            <a:rPr lang="en-IN" sz="1200" b="1" i="0" dirty="0" err="1">
              <a:solidFill>
                <a:schemeClr val="tx1"/>
              </a:solidFill>
              <a:latin typeface="Arial(body)"/>
            </a:rPr>
            <a:t>bcrypt</a:t>
          </a:r>
          <a:r>
            <a:rPr lang="en-IN" sz="1200" b="1" i="0" dirty="0">
              <a:solidFill>
                <a:schemeClr val="tx1"/>
              </a:solidFill>
              <a:latin typeface="Arial(body)"/>
            </a:rPr>
            <a:t>, Helmet, CORS, Morgan, Express Rate Limit</a:t>
          </a:r>
          <a:endParaRPr lang="en-US" sz="1200" b="1" dirty="0">
            <a:solidFill>
              <a:schemeClr val="tx1"/>
            </a:solidFill>
            <a:latin typeface="Arial(body)"/>
          </a:endParaRPr>
        </a:p>
      </dsp:txBody>
      <dsp:txXfrm>
        <a:off x="6878720" y="-100"/>
        <a:ext cx="2374890" cy="1007529"/>
      </dsp:txXfrm>
    </dsp:sp>
    <dsp:sp modelId="{BEE85685-F42F-4EA8-8898-77A6F00049A5}">
      <dsp:nvSpPr>
        <dsp:cNvPr id="9" name="Oval 8"/>
        <dsp:cNvSpPr/>
      </dsp:nvSpPr>
      <dsp:spPr bwMode="white">
        <a:xfrm>
          <a:off x="1643167" y="1198374"/>
          <a:ext cx="1007529" cy="1007529"/>
        </a:xfrm>
        <a:prstGeom prst="ellipse">
          <a:avLst/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1643167" y="1198374"/>
        <a:ext cx="1007529" cy="1007529"/>
      </dsp:txXfrm>
    </dsp:sp>
    <dsp:sp modelId="{2FF98A4E-A5CB-476A-8EC4-E08BC4A6DF98}">
      <dsp:nvSpPr>
        <dsp:cNvPr id="10" name="Rectangle 9"/>
        <dsp:cNvSpPr/>
      </dsp:nvSpPr>
      <dsp:spPr bwMode="white">
        <a:xfrm>
          <a:off x="1854748" y="1409955"/>
          <a:ext cx="584367" cy="584367"/>
        </a:xfrm>
        <a:prstGeom prst="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sp:spPr>
      <dsp:style>
        <a:lnRef idx="2">
          <a:schemeClr val="lt1">
            <a:alpha val="0"/>
          </a:schemeClr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Xfrm>
        <a:off x="1854748" y="1409955"/>
        <a:ext cx="584367" cy="584367"/>
      </dsp:txXfrm>
    </dsp:sp>
    <dsp:sp modelId="{56F424C1-58DA-49EB-B559-F7E7539F6CA0}">
      <dsp:nvSpPr>
        <dsp:cNvPr id="11" name="Rectangle 10"/>
        <dsp:cNvSpPr/>
      </dsp:nvSpPr>
      <dsp:spPr bwMode="white">
        <a:xfrm>
          <a:off x="2866595" y="1198374"/>
          <a:ext cx="2374890" cy="100752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200" b="1" i="0" dirty="0">
              <a:solidFill>
                <a:schemeClr val="tx1"/>
              </a:solidFill>
              <a:latin typeface="Arial(body)"/>
            </a:rPr>
            <a:t>Database: </a:t>
          </a:r>
          <a:r>
            <a:rPr lang="en-IN" sz="1200" b="1" i="0" dirty="0" err="1">
              <a:solidFill>
                <a:schemeClr val="tx1"/>
              </a:solidFill>
              <a:latin typeface="Arial(body)"/>
            </a:rPr>
            <a:t>NeDB</a:t>
          </a:r>
          <a:r>
            <a:rPr lang="en-IN" sz="1200" b="1" i="0" dirty="0">
              <a:solidFill>
                <a:schemeClr val="tx1"/>
              </a:solidFill>
              <a:latin typeface="Arial(body)"/>
            </a:rPr>
            <a:t>, Users Database, Industries Database, Sensors Database, Readings Database, Violations Database, Alerts Database, Reports Database, Risk Assessments Database, Agent Activities Database</a:t>
          </a:r>
          <a:endParaRPr lang="en-US" sz="1200" b="1" dirty="0">
            <a:solidFill>
              <a:schemeClr val="tx1"/>
            </a:solidFill>
            <a:latin typeface="Arial(body)"/>
          </a:endParaRPr>
        </a:p>
      </dsp:txBody>
      <dsp:txXfrm>
        <a:off x="2866595" y="1198374"/>
        <a:ext cx="2374890" cy="1007529"/>
      </dsp:txXfrm>
    </dsp:sp>
    <dsp:sp modelId="{4F8E4E1A-7EBB-4B12-88FD-FBD82639EC9C}">
      <dsp:nvSpPr>
        <dsp:cNvPr id="12" name="Oval 11"/>
        <dsp:cNvSpPr/>
      </dsp:nvSpPr>
      <dsp:spPr bwMode="white">
        <a:xfrm>
          <a:off x="5655292" y="1198374"/>
          <a:ext cx="1007529" cy="1007529"/>
        </a:xfrm>
        <a:prstGeom prst="ellipse">
          <a:avLst/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5655292" y="1198374"/>
        <a:ext cx="1007529" cy="1007529"/>
      </dsp:txXfrm>
    </dsp:sp>
    <dsp:sp modelId="{22AD413B-9279-42CB-A9A5-F5188BC6C5F0}">
      <dsp:nvSpPr>
        <dsp:cNvPr id="13" name="Rectangle 12"/>
        <dsp:cNvSpPr/>
      </dsp:nvSpPr>
      <dsp:spPr bwMode="white">
        <a:xfrm>
          <a:off x="5866873" y="1409955"/>
          <a:ext cx="584367" cy="584367"/>
        </a:xfrm>
        <a:prstGeom prst="rect">
          <a:avLst/>
        </a:prstGeom>
        <a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sp:spPr>
      <dsp:style>
        <a:lnRef idx="2">
          <a:schemeClr val="lt1">
            <a:alpha val="0"/>
          </a:schemeClr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Xfrm>
        <a:off x="5866873" y="1409955"/>
        <a:ext cx="584367" cy="584367"/>
      </dsp:txXfrm>
    </dsp:sp>
    <dsp:sp modelId="{0D5F042D-A186-47A1-AEDC-2F2DFF0A3C9A}">
      <dsp:nvSpPr>
        <dsp:cNvPr id="14" name="Rectangle 13"/>
        <dsp:cNvSpPr/>
      </dsp:nvSpPr>
      <dsp:spPr bwMode="white">
        <a:xfrm>
          <a:off x="6878720" y="1198374"/>
          <a:ext cx="2374890" cy="100752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200" b="1" i="0" dirty="0">
              <a:solidFill>
                <a:schemeClr val="tx1"/>
              </a:solidFill>
              <a:latin typeface="Arial(body)"/>
            </a:rPr>
            <a:t>AI: IBM </a:t>
          </a:r>
          <a:r>
            <a:rPr lang="en-IN" sz="1200" b="1" i="0" dirty="0" err="1">
              <a:solidFill>
                <a:schemeClr val="tx1"/>
              </a:solidFill>
              <a:latin typeface="Arial(body)"/>
            </a:rPr>
            <a:t>watsonx</a:t>
          </a:r>
          <a:r>
            <a:rPr lang="en-IN" sz="1200" b="1" i="0" dirty="0">
              <a:solidFill>
                <a:schemeClr val="tx1"/>
              </a:solidFill>
              <a:latin typeface="Arial(body)"/>
            </a:rPr>
            <a:t>, IBM Granite LLM, AI-Generated Compliance Reports, Natural-Language AI Queries, AI Environmental Analysis</a:t>
          </a:r>
          <a:endParaRPr lang="en-US" sz="1200" b="1" dirty="0">
            <a:solidFill>
              <a:schemeClr val="tx1"/>
            </a:solidFill>
            <a:latin typeface="Arial(body)"/>
          </a:endParaRPr>
        </a:p>
      </dsp:txBody>
      <dsp:txXfrm>
        <a:off x="6878720" y="1198374"/>
        <a:ext cx="2374890" cy="1007529"/>
      </dsp:txXfrm>
    </dsp:sp>
    <dsp:sp modelId="{4DB07CAF-70E9-4699-A0AB-467B8ADA384A}">
      <dsp:nvSpPr>
        <dsp:cNvPr id="15" name="Oval 14"/>
        <dsp:cNvSpPr/>
      </dsp:nvSpPr>
      <dsp:spPr bwMode="white">
        <a:xfrm>
          <a:off x="1643167" y="2396848"/>
          <a:ext cx="1007529" cy="1007529"/>
        </a:xfrm>
        <a:prstGeom prst="ellipse">
          <a:avLst/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1643167" y="2396848"/>
        <a:ext cx="1007529" cy="1007529"/>
      </dsp:txXfrm>
    </dsp:sp>
    <dsp:sp modelId="{A28C5134-7DDD-49E5-B20B-7DECA9C3EF33}">
      <dsp:nvSpPr>
        <dsp:cNvPr id="16" name="Rectangle 15"/>
        <dsp:cNvSpPr/>
      </dsp:nvSpPr>
      <dsp:spPr bwMode="white">
        <a:xfrm>
          <a:off x="1854748" y="2608429"/>
          <a:ext cx="584367" cy="584367"/>
        </a:xfrm>
        <a:prstGeom prst="rect">
          <a:avLst/>
        </a:prstGeom>
        <a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sp:spPr>
      <dsp:style>
        <a:lnRef idx="2">
          <a:schemeClr val="lt1">
            <a:alpha val="0"/>
          </a:schemeClr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Xfrm>
        <a:off x="1854748" y="2608429"/>
        <a:ext cx="584367" cy="584367"/>
      </dsp:txXfrm>
    </dsp:sp>
    <dsp:sp modelId="{283D288A-8A30-464B-837A-10B0861D3B86}">
      <dsp:nvSpPr>
        <dsp:cNvPr id="17" name="Rectangle 16"/>
        <dsp:cNvSpPr/>
      </dsp:nvSpPr>
      <dsp:spPr bwMode="white">
        <a:xfrm>
          <a:off x="2866595" y="2396848"/>
          <a:ext cx="2374890" cy="100752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200" b="1" i="0" dirty="0">
              <a:solidFill>
                <a:schemeClr val="tx1"/>
              </a:solidFill>
              <a:latin typeface="Arial(body)"/>
            </a:rPr>
            <a:t>IoT: Real-Time Sensor Simulator, Air-Quality Sensors, Water-Quality Sensors</a:t>
          </a:r>
          <a:endParaRPr lang="en-US" sz="1200" b="1" dirty="0">
            <a:solidFill>
              <a:schemeClr val="tx1"/>
            </a:solidFill>
            <a:latin typeface="Arial(body)"/>
          </a:endParaRPr>
        </a:p>
      </dsp:txBody>
      <dsp:txXfrm>
        <a:off x="2866595" y="2396848"/>
        <a:ext cx="2374890" cy="1007529"/>
      </dsp:txXfrm>
    </dsp:sp>
    <dsp:sp modelId="{148DDD10-AF4A-4E1C-AB43-7B8C6A7A1A47}">
      <dsp:nvSpPr>
        <dsp:cNvPr id="18" name="Oval 17"/>
        <dsp:cNvSpPr/>
      </dsp:nvSpPr>
      <dsp:spPr bwMode="white">
        <a:xfrm>
          <a:off x="5655292" y="2396848"/>
          <a:ext cx="1007529" cy="1007529"/>
        </a:xfrm>
        <a:prstGeom prst="ellipse">
          <a:avLst/>
        </a:prstGeom>
      </dsp:spPr>
      <dsp:style>
        <a:lnRef idx="0">
          <a:schemeClr val="dk1"/>
        </a:lnRef>
        <a:fillRef idx="1">
          <a:schemeClr val="bg1">
            <a:lumMod val="95000"/>
          </a:schemeClr>
        </a:fillRef>
        <a:effectRef idx="0">
          <a:scrgbClr r="0" g="0" b="0"/>
        </a:effectRef>
        <a:fontRef idx="minor"/>
      </dsp:style>
      <dsp:txXfrm>
        <a:off x="5655292" y="2396848"/>
        <a:ext cx="1007529" cy="1007529"/>
      </dsp:txXfrm>
    </dsp:sp>
    <dsp:sp modelId="{970490F6-2BE9-4FBF-BF93-F99D386D0C50}">
      <dsp:nvSpPr>
        <dsp:cNvPr id="19" name="Rectangle 18"/>
        <dsp:cNvSpPr/>
      </dsp:nvSpPr>
      <dsp:spPr bwMode="white">
        <a:xfrm>
          <a:off x="5866873" y="2608429"/>
          <a:ext cx="584367" cy="584367"/>
        </a:xfrm>
        <a:prstGeom prst="rect">
          <a:avLst/>
        </a:prstGeom>
        <a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sp:spPr>
      <dsp:style>
        <a:lnRef idx="2">
          <a:schemeClr val="lt1">
            <a:alpha val="0"/>
          </a:schemeClr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5866873" y="2608429"/>
        <a:ext cx="584367" cy="584367"/>
      </dsp:txXfrm>
    </dsp:sp>
    <dsp:sp modelId="{D760F38A-4A19-4E59-9E2B-3FF369517942}">
      <dsp:nvSpPr>
        <dsp:cNvPr id="20" name="Rectangle 19"/>
        <dsp:cNvSpPr/>
      </dsp:nvSpPr>
      <dsp:spPr bwMode="white">
        <a:xfrm>
          <a:off x="6878720" y="2396848"/>
          <a:ext cx="2374890" cy="100752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200" b="1" i="0" dirty="0">
              <a:solidFill>
                <a:schemeClr val="tx1"/>
              </a:solidFill>
              <a:latin typeface="Arial(body)"/>
            </a:rPr>
            <a:t>Security: JWT Authentication, Role-Based Access Control, </a:t>
          </a:r>
          <a:r>
            <a:rPr lang="en-IN" sz="1200" b="1" i="0" dirty="0" err="1">
              <a:solidFill>
                <a:schemeClr val="tx1"/>
              </a:solidFill>
              <a:latin typeface="Arial(body)"/>
            </a:rPr>
            <a:t>bcrypt</a:t>
          </a:r>
          <a:r>
            <a:rPr lang="en-IN" sz="1200" b="1" i="0" dirty="0">
              <a:solidFill>
                <a:schemeClr val="tx1"/>
              </a:solidFill>
              <a:latin typeface="Arial(body)"/>
            </a:rPr>
            <a:t> Password Hashing, Helmet Security Middleware, CORS Configuration, Rate Limiting</a:t>
          </a:r>
          <a:endParaRPr lang="en-US" sz="1200" b="1" dirty="0">
            <a:solidFill>
              <a:schemeClr val="tx1"/>
            </a:solidFill>
            <a:latin typeface="Arial(body)"/>
          </a:endParaRPr>
        </a:p>
      </dsp:txBody>
      <dsp:txXfrm>
        <a:off x="6878720" y="2396848"/>
        <a:ext cx="2374890" cy="10075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250489" cy="4927708"/>
        <a:chOff x="0" y="0"/>
        <a:chExt cx="10250489" cy="4927708"/>
      </a:xfrm>
    </dsp:grpSpPr>
    <dsp:sp modelId="{B9530A36-40B3-46EC-9ACA-5C20ADE867E6}">
      <dsp:nvSpPr>
        <dsp:cNvPr id="4" name="Freeform 3"/>
        <dsp:cNvSpPr/>
      </dsp:nvSpPr>
      <dsp:spPr bwMode="white">
        <a:xfrm>
          <a:off x="2974544" y="1237774"/>
          <a:ext cx="680346" cy="0"/>
        </a:xfrm>
        <a:custGeom>
          <a:avLst/>
          <a:gdLst/>
          <a:ahLst/>
          <a:cxnLst/>
          <a:pathLst>
            <a:path w="1071">
              <a:moveTo>
                <a:pt x="0" y="0"/>
              </a:moveTo>
              <a:lnTo>
                <a:pt x="1071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2"/>
        </a:lnRef>
        <a:fillRef idx="0">
          <a:schemeClr val="accent2"/>
        </a:fillRef>
        <a:effectRef idx="0">
          <a:scrgbClr r="0" g="0" b="0"/>
        </a:effectRef>
        <a:fontRef idx="minor"/>
      </dsp:style>
      <dsp:txXfrm>
        <a:off x="2974544" y="1237774"/>
        <a:ext cx="680346" cy="0"/>
      </dsp:txXfrm>
    </dsp:sp>
    <dsp:sp modelId="{8CE432DC-A6CC-4456-84A5-50262BB7C9D8}">
      <dsp:nvSpPr>
        <dsp:cNvPr id="3" name="Rectangle 2"/>
        <dsp:cNvSpPr/>
      </dsp:nvSpPr>
      <dsp:spPr bwMode="white">
        <a:xfrm>
          <a:off x="16517" y="350366"/>
          <a:ext cx="2958027" cy="1774816"/>
        </a:xfrm>
        <a:prstGeom prst="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144945" tIns="152146" rIns="144945" bIns="15214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dirty="0">
              <a:latin typeface="Arial(body)"/>
            </a:rPr>
            <a:t>🔬 Emission &amp; Effluent Monitoring Agent</a:t>
          </a:r>
          <a:br>
            <a:rPr lang="en-IN" sz="1800" b="1" i="0" dirty="0">
              <a:latin typeface="Arial(body)"/>
            </a:rPr>
          </a:br>
          <a:r>
            <a:rPr lang="en-IN" sz="1800" b="1" i="0" dirty="0">
              <a:latin typeface="Arial(body)"/>
            </a:rPr>
            <a:t>Continuously monitors air and water sensor data and identifies abnormal readings. </a:t>
          </a:r>
          <a:endParaRPr lang="en-US" sz="1800" b="1" dirty="0">
            <a:latin typeface="Arial(body)"/>
          </a:endParaRPr>
        </a:p>
      </dsp:txBody>
      <dsp:txXfrm>
        <a:off x="16517" y="350366"/>
        <a:ext cx="2958027" cy="1774816"/>
      </dsp:txXfrm>
    </dsp:sp>
    <dsp:sp modelId="{1DA75E48-FC12-4D96-86B3-CA173F1DDDD5}">
      <dsp:nvSpPr>
        <dsp:cNvPr id="6" name="Freeform 5"/>
        <dsp:cNvSpPr/>
      </dsp:nvSpPr>
      <dsp:spPr bwMode="white">
        <a:xfrm>
          <a:off x="6612917" y="1237774"/>
          <a:ext cx="680346" cy="0"/>
        </a:xfrm>
        <a:custGeom>
          <a:avLst/>
          <a:gdLst/>
          <a:ahLst/>
          <a:cxnLst/>
          <a:pathLst>
            <a:path w="1071">
              <a:moveTo>
                <a:pt x="0" y="0"/>
              </a:moveTo>
              <a:lnTo>
                <a:pt x="1071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3"/>
        </a:lnRef>
        <a:fillRef idx="0">
          <a:schemeClr val="accent3"/>
        </a:fillRef>
        <a:effectRef idx="0">
          <a:scrgbClr r="0" g="0" b="0"/>
        </a:effectRef>
        <a:fontRef idx="minor"/>
      </dsp:style>
      <dsp:txXfrm>
        <a:off x="6612917" y="1237774"/>
        <a:ext cx="680346" cy="0"/>
      </dsp:txXfrm>
    </dsp:sp>
    <dsp:sp modelId="{5A9C51E3-7B99-47AB-8C97-770CA296CC04}">
      <dsp:nvSpPr>
        <dsp:cNvPr id="5" name="Rectangle 4"/>
        <dsp:cNvSpPr/>
      </dsp:nvSpPr>
      <dsp:spPr bwMode="white">
        <a:xfrm>
          <a:off x="3654890" y="350366"/>
          <a:ext cx="2958027" cy="1774816"/>
        </a:xfrm>
        <a:prstGeom prst="rect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144945" tIns="152146" rIns="144945" bIns="15214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dirty="0">
              <a:latin typeface="Arial(body)"/>
            </a:rPr>
            <a:t>⚠️ Violation Detection &amp; Compliance Agent</a:t>
          </a:r>
          <a:br>
            <a:rPr lang="en-IN" sz="1800" b="1" i="0" dirty="0">
              <a:latin typeface="Arial(body)"/>
            </a:rPr>
          </a:br>
          <a:r>
            <a:rPr lang="en-IN" sz="1800" b="1" i="0" dirty="0">
              <a:latin typeface="Arial(body)"/>
            </a:rPr>
            <a:t>Compares sensor values with pollution thresholds and detects potential violations. </a:t>
          </a:r>
          <a:endParaRPr lang="en-US" sz="1800" b="1" dirty="0">
            <a:latin typeface="Arial(body)"/>
          </a:endParaRPr>
        </a:p>
      </dsp:txBody>
      <dsp:txXfrm>
        <a:off x="3654890" y="350366"/>
        <a:ext cx="2958027" cy="1774816"/>
      </dsp:txXfrm>
    </dsp:sp>
    <dsp:sp modelId="{890EEF45-2DB5-47CD-9828-E5F83E880C02}">
      <dsp:nvSpPr>
        <dsp:cNvPr id="8" name="Freeform 7"/>
        <dsp:cNvSpPr/>
      </dsp:nvSpPr>
      <dsp:spPr bwMode="white">
        <a:xfrm>
          <a:off x="1495530" y="2125182"/>
          <a:ext cx="7276746" cy="677343"/>
        </a:xfrm>
        <a:custGeom>
          <a:avLst/>
          <a:gdLst/>
          <a:ahLst/>
          <a:cxnLst/>
          <a:pathLst>
            <a:path w="11459" h="1067">
              <a:moveTo>
                <a:pt x="11459" y="0"/>
              </a:moveTo>
              <a:lnTo>
                <a:pt x="11459" y="533"/>
              </a:lnTo>
              <a:lnTo>
                <a:pt x="0" y="533"/>
              </a:lnTo>
              <a:lnTo>
                <a:pt x="0" y="1067"/>
              </a:lnTo>
            </a:path>
          </a:pathLst>
        </a:custGeom>
        <a:ln>
          <a:tailEnd type="arrow" w="lg" len="med"/>
        </a:ln>
      </dsp:spPr>
      <dsp:style>
        <a:lnRef idx="1">
          <a:schemeClr val="accent4"/>
        </a:lnRef>
        <a:fillRef idx="0">
          <a:schemeClr val="accent4"/>
        </a:fillRef>
        <a:effectRef idx="0">
          <a:scrgbClr r="0" g="0" b="0"/>
        </a:effectRef>
        <a:fontRef idx="minor"/>
      </dsp:style>
      <dsp:txXfrm>
        <a:off x="1495530" y="2125182"/>
        <a:ext cx="7276746" cy="677343"/>
      </dsp:txXfrm>
    </dsp:sp>
    <dsp:sp modelId="{C5D52704-4A56-43E3-BB6E-645BF6D8682D}">
      <dsp:nvSpPr>
        <dsp:cNvPr id="7" name="Rectangle 6"/>
        <dsp:cNvSpPr/>
      </dsp:nvSpPr>
      <dsp:spPr bwMode="white">
        <a:xfrm>
          <a:off x="7293263" y="350366"/>
          <a:ext cx="2958027" cy="1774816"/>
        </a:xfrm>
        <a:prstGeom prst="rect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144945" tIns="152146" rIns="144945" bIns="15214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dirty="0">
              <a:latin typeface="Arial(body)"/>
            </a:rPr>
            <a:t>📋 Regulatory Alert &amp; Escalation Agent</a:t>
          </a:r>
          <a:br>
            <a:rPr lang="en-IN" sz="1800" b="1" i="0" dirty="0">
              <a:latin typeface="Arial(body)"/>
            </a:rPr>
          </a:br>
          <a:r>
            <a:rPr lang="en-IN" sz="1800" b="1" i="0" dirty="0">
              <a:latin typeface="Arial(body)"/>
            </a:rPr>
            <a:t>Generates alerts for serious violations and escalates critical pollution events. </a:t>
          </a:r>
          <a:endParaRPr lang="en-US" sz="1800" b="1" dirty="0">
            <a:latin typeface="Arial(body)"/>
          </a:endParaRPr>
        </a:p>
      </dsp:txBody>
      <dsp:txXfrm>
        <a:off x="7293263" y="350366"/>
        <a:ext cx="2958027" cy="1774816"/>
      </dsp:txXfrm>
    </dsp:sp>
    <dsp:sp modelId="{9CE21206-DFA7-4323-A87C-3D5F760A69F0}">
      <dsp:nvSpPr>
        <dsp:cNvPr id="10" name="Freeform 9"/>
        <dsp:cNvSpPr/>
      </dsp:nvSpPr>
      <dsp:spPr bwMode="white">
        <a:xfrm>
          <a:off x="2974544" y="3689934"/>
          <a:ext cx="680346" cy="0"/>
        </a:xfrm>
        <a:custGeom>
          <a:avLst/>
          <a:gdLst/>
          <a:ahLst/>
          <a:cxnLst/>
          <a:pathLst>
            <a:path w="1071">
              <a:moveTo>
                <a:pt x="0" y="0"/>
              </a:moveTo>
              <a:lnTo>
                <a:pt x="1071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5"/>
        </a:lnRef>
        <a:fillRef idx="0">
          <a:schemeClr val="accent5"/>
        </a:fillRef>
        <a:effectRef idx="0">
          <a:scrgbClr r="0" g="0" b="0"/>
        </a:effectRef>
        <a:fontRef idx="minor"/>
      </dsp:style>
      <dsp:txXfrm>
        <a:off x="2974544" y="3689934"/>
        <a:ext cx="680346" cy="0"/>
      </dsp:txXfrm>
    </dsp:sp>
    <dsp:sp modelId="{B49315AD-A4E5-4437-B1A0-D66E846DE341}">
      <dsp:nvSpPr>
        <dsp:cNvPr id="9" name="Rectangle 8"/>
        <dsp:cNvSpPr/>
      </dsp:nvSpPr>
      <dsp:spPr bwMode="white">
        <a:xfrm>
          <a:off x="16517" y="2802526"/>
          <a:ext cx="2958027" cy="1774816"/>
        </a:xfrm>
        <a:prstGeom prst="rect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lIns="144945" tIns="152146" rIns="144945" bIns="15214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dirty="0">
              <a:latin typeface="Arial(body)"/>
            </a:rPr>
            <a:t>🏥 Public Health Risk Assessment Agent</a:t>
          </a:r>
          <a:br>
            <a:rPr lang="en-IN" sz="1800" b="1" i="0" dirty="0">
              <a:latin typeface="Arial(body)"/>
            </a:rPr>
          </a:br>
          <a:r>
            <a:rPr lang="en-IN" sz="1800" b="1" i="0" dirty="0" err="1">
              <a:latin typeface="Arial(body)"/>
            </a:rPr>
            <a:t>Analyzes</a:t>
          </a:r>
          <a:r>
            <a:rPr lang="en-IN" sz="1800" b="1" i="0" dirty="0">
              <a:latin typeface="Arial(body)"/>
            </a:rPr>
            <a:t> pollution conditions and estimates health risk levels: Low, Moderate, High, Critical. </a:t>
          </a:r>
          <a:endParaRPr lang="en-US" sz="1800" b="1" dirty="0">
            <a:latin typeface="Arial(body)"/>
          </a:endParaRPr>
        </a:p>
      </dsp:txBody>
      <dsp:txXfrm>
        <a:off x="16517" y="2802526"/>
        <a:ext cx="2958027" cy="1774816"/>
      </dsp:txXfrm>
    </dsp:sp>
    <dsp:sp modelId="{F3AD7457-22DA-4CC6-8BD9-E987F97EF083}">
      <dsp:nvSpPr>
        <dsp:cNvPr id="12" name="Freeform 11"/>
        <dsp:cNvSpPr/>
      </dsp:nvSpPr>
      <dsp:spPr bwMode="white">
        <a:xfrm>
          <a:off x="6612917" y="3689934"/>
          <a:ext cx="680346" cy="0"/>
        </a:xfrm>
        <a:custGeom>
          <a:avLst/>
          <a:gdLst/>
          <a:ahLst/>
          <a:cxnLst/>
          <a:pathLst>
            <a:path w="1071">
              <a:moveTo>
                <a:pt x="0" y="0"/>
              </a:moveTo>
              <a:lnTo>
                <a:pt x="1071" y="0"/>
              </a:lnTo>
            </a:path>
          </a:pathLst>
        </a:custGeom>
        <a:ln>
          <a:tailEnd type="arrow" w="lg" len="med"/>
        </a:ln>
      </dsp:spPr>
      <dsp:style>
        <a:lnRef idx="1">
          <a:schemeClr val="accent6"/>
        </a:lnRef>
        <a:fillRef idx="0">
          <a:schemeClr val="accent6"/>
        </a:fillRef>
        <a:effectRef idx="0">
          <a:scrgbClr r="0" g="0" b="0"/>
        </a:effectRef>
        <a:fontRef idx="minor"/>
      </dsp:style>
      <dsp:txXfrm>
        <a:off x="6612917" y="3689934"/>
        <a:ext cx="680346" cy="0"/>
      </dsp:txXfrm>
    </dsp:sp>
    <dsp:sp modelId="{2286EB01-0CF5-43E3-9442-F33EE3BAE243}">
      <dsp:nvSpPr>
        <dsp:cNvPr id="11" name="Rectangle 10"/>
        <dsp:cNvSpPr/>
      </dsp:nvSpPr>
      <dsp:spPr bwMode="white">
        <a:xfrm>
          <a:off x="3654890" y="2802526"/>
          <a:ext cx="2958027" cy="1774816"/>
        </a:xfrm>
        <a:prstGeom prst="rect">
          <a:avLst/>
        </a:prstGeom>
      </dsp:spPr>
      <dsp:style>
        <a:lnRef idx="2">
          <a:schemeClr val="lt1"/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Body>
        <a:bodyPr lIns="144945" tIns="152146" rIns="144945" bIns="15214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dirty="0">
              <a:latin typeface="Arial(body)"/>
            </a:rPr>
            <a:t>🔍 Pollution Investigation Agent</a:t>
          </a:r>
          <a:br>
            <a:rPr lang="en-IN" sz="1800" b="1" i="0" dirty="0">
              <a:latin typeface="Arial(body)"/>
            </a:rPr>
          </a:br>
          <a:r>
            <a:rPr lang="en-IN" sz="1800" b="1" i="0" dirty="0" err="1">
              <a:latin typeface="Arial(body)"/>
            </a:rPr>
            <a:t>Analyzes</a:t>
          </a:r>
          <a:r>
            <a:rPr lang="en-IN" sz="1800" b="1" i="0" dirty="0">
              <a:latin typeface="Arial(body)"/>
            </a:rPr>
            <a:t> pollution spikes and historical data to identify possible causes and sources. </a:t>
          </a:r>
          <a:endParaRPr lang="en-US" sz="1800" b="1" dirty="0">
            <a:latin typeface="Arial(body)"/>
          </a:endParaRPr>
        </a:p>
      </dsp:txBody>
      <dsp:txXfrm>
        <a:off x="3654890" y="2802526"/>
        <a:ext cx="2958027" cy="1774816"/>
      </dsp:txXfrm>
    </dsp:sp>
    <dsp:sp modelId="{456FE2D6-07FF-48F8-948A-6C1580B10CB0}">
      <dsp:nvSpPr>
        <dsp:cNvPr id="13" name="Rectangle 12"/>
        <dsp:cNvSpPr/>
      </dsp:nvSpPr>
      <dsp:spPr bwMode="white">
        <a:xfrm>
          <a:off x="7293263" y="2802526"/>
          <a:ext cx="2958027" cy="1774816"/>
        </a:xfrm>
        <a:prstGeom prst="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144945" tIns="152146" rIns="144945" bIns="15214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dirty="0">
              <a:latin typeface="Arial(body)"/>
            </a:rPr>
            <a:t>📊 Industrial Pollution Dashboard Agent</a:t>
          </a:r>
          <a:br>
            <a:rPr lang="en-IN" sz="1800" b="1" i="0" dirty="0">
              <a:latin typeface="Arial(body)"/>
            </a:rPr>
          </a:br>
          <a:r>
            <a:rPr lang="en-IN" sz="1800" b="1" i="0" dirty="0">
              <a:latin typeface="Arial(body)"/>
            </a:rPr>
            <a:t>Provides a centralized real-time view of monitoring, violations, alerts, risks, analytics, and AI reports.</a:t>
          </a:r>
          <a:endParaRPr lang="en-US" sz="1800" b="1" dirty="0">
            <a:latin typeface="Arial(body)"/>
          </a:endParaRPr>
        </a:p>
      </dsp:txBody>
      <dsp:txXfrm>
        <a:off x="7293263" y="2802526"/>
        <a:ext cx="2958027" cy="1774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srcNode" val="background"/>
                    <dgm:param type="dstNode" val="background2"/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tCtr"/>
                    <dgm:param type="bendPt" val="end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srcNode" val="background2"/>
                            <dgm:param type="dstNode" val="background3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srcNode" val="background3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if>
                                    <dgm:else name="Name26">
                                      <dgm:alg type="conn">
                                        <dgm:param type="srcNode" val="background4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contDir" val="sameDir"/>
            <dgm:param type="grDir" val="tL"/>
            <dgm:param type="flowDir" val="row"/>
          </dgm:alg>
        </dgm:if>
        <dgm:else name="Name5">
          <dgm:alg type="snake">
            <dgm:param type="contDir" val="sameDir"/>
            <dgm:param type="grDir" val="tR"/>
            <dgm:param type="flowDir" val="row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parTxLTRAlign" val="l"/>
                  <dgm:param type="parTxRTLAlign" val="l"/>
                  <dgm:param type="shpTxLTRAlignCh" val="l"/>
                  <dgm:param type="shpTxRTLAlignCh" val="l"/>
                  <dgm:param type="txAnchorVert" val="mid"/>
                </dgm:alg>
              </dgm:if>
              <dgm:else name="Name9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  <dgm:param type="txAnchorVert" val="mid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bkpt" val="endCnv"/>
          <dgm:param type="contDir" val="sameDir"/>
          <dgm:param type="grDir" val="tL"/>
          <dgm:param type="flowDir" val="row"/>
        </dgm:alg>
      </dgm:if>
      <dgm:else name="Name3">
        <dgm:alg type="snake">
          <dgm:param type="bkpt" val="endCnv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dim" val="1D"/>
                <dgm:param type="connRout" val="bend"/>
                <dgm:param type="begPts" val="midR bCtr"/>
                <dgm:param type="endPts" val="midL tCtr"/>
              </dgm:alg>
            </dgm:if>
            <dgm:else name="Name6">
              <dgm:alg type="conn">
                <dgm:param type="dim" val="1D"/>
                <dgm:param type="connRout" val="ben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6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80FEE-702C-44CD-9CE6-40C037B954CB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09721-B65F-40FC-B6AD-4B52AAE055A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09721-B65F-40FC-B6AD-4B52AAE055AC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4.png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1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3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9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1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image" Target="../media/image5.jpe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2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5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bansaripadia2705-source/Smart-Industrial-Pollution-Monitoring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jpeg"/><Relationship Id="rId1" Type="http://schemas.openxmlformats.org/officeDocument/2006/relationships/image" Target="../media/image5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jpeg"/><Relationship Id="rId1" Type="http://schemas.openxmlformats.org/officeDocument/2006/relationships/image" Target="../media/image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jpeg"/><Relationship Id="rId1" Type="http://schemas.openxmlformats.org/officeDocument/2006/relationships/image" Target="../media/image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jpeg"/><Relationship Id="rId1" Type="http://schemas.openxmlformats.org/officeDocument/2006/relationships/image" Target="../media/image5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7.jpeg"/><Relationship Id="rId1" Type="http://schemas.openxmlformats.org/officeDocument/2006/relationships/image" Target="../media/image5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jpeg"/><Relationship Id="rId1" Type="http://schemas.openxmlformats.org/officeDocument/2006/relationships/image" Target="../media/image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jpeg"/><Relationship Id="rId1" Type="http://schemas.openxmlformats.org/officeDocument/2006/relationships/image" Target="../media/image5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jpeg"/><Relationship Id="rId1" Type="http://schemas.openxmlformats.org/officeDocument/2006/relationships/image" Target="../media/image5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1.jpeg"/><Relationship Id="rId1" Type="http://schemas.openxmlformats.org/officeDocument/2006/relationships/image" Target="../media/image5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1" Type="http://schemas.openxmlformats.org/officeDocument/2006/relationships/image" Target="../media/image5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jpeg"/><Relationship Id="rId1" Type="http://schemas.openxmlformats.org/officeDocument/2006/relationships/image" Target="../media/image5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jpeg"/><Relationship Id="rId1" Type="http://schemas.openxmlformats.org/officeDocument/2006/relationships/image" Target="../media/image5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jpeg"/><Relationship Id="rId1" Type="http://schemas.openxmlformats.org/officeDocument/2006/relationships/image" Target="../media/image5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jpeg"/><Relationship Id="rId1" Type="http://schemas.openxmlformats.org/officeDocument/2006/relationships/image" Target="../media/image5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jpeg"/><Relationship Id="rId1" Type="http://schemas.openxmlformats.org/officeDocument/2006/relationships/image" Target="../media/image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jpeg"/><Relationship Id="rId1" Type="http://schemas.openxmlformats.org/officeDocument/2006/relationships/image" Target="../media/image5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jpeg"/><Relationship Id="rId1" Type="http://schemas.openxmlformats.org/officeDocument/2006/relationships/image" Target="../media/image5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1" Type="http://schemas.openxmlformats.org/officeDocument/2006/relationships/image" Target="../media/image5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.jpeg"/><Relationship Id="rId1" Type="http://schemas.openxmlformats.org/officeDocument/2006/relationships/image" Target="../media/image5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jpeg"/><Relationship Id="rId1" Type="http://schemas.openxmlformats.org/officeDocument/2006/relationships/image" Target="../media/image5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3.jpeg"/><Relationship Id="rId1" Type="http://schemas.openxmlformats.org/officeDocument/2006/relationships/image" Target="../media/image5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4.jpeg"/><Relationship Id="rId1" Type="http://schemas.openxmlformats.org/officeDocument/2006/relationships/image" Target="../media/image5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5.jpeg"/><Relationship Id="rId1" Type="http://schemas.openxmlformats.org/officeDocument/2006/relationships/image" Target="../media/image5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jpeg"/><Relationship Id="rId1" Type="http://schemas.openxmlformats.org/officeDocument/2006/relationships/image" Target="../media/image5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7.jpeg"/><Relationship Id="rId1" Type="http://schemas.openxmlformats.org/officeDocument/2006/relationships/image" Target="../media/image5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8.jpeg"/><Relationship Id="rId1" Type="http://schemas.openxmlformats.org/officeDocument/2006/relationships/image" Target="../media/image5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jpeg"/><Relationship Id="rId1" Type="http://schemas.openxmlformats.org/officeDocument/2006/relationships/image" Target="../media/image5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jpeg"/><Relationship Id="rId1" Type="http://schemas.openxmlformats.org/officeDocument/2006/relationships/image" Target="../media/image5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1.jpeg"/><Relationship Id="rId1" Type="http://schemas.openxmlformats.org/officeDocument/2006/relationships/image" Target="../media/image5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2.jpeg"/><Relationship Id="rId1" Type="http://schemas.openxmlformats.org/officeDocument/2006/relationships/image" Target="../media/image5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jpeg"/><Relationship Id="rId1" Type="http://schemas.openxmlformats.org/officeDocument/2006/relationships/image" Target="../media/image5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4.jpeg"/><Relationship Id="rId1" Type="http://schemas.openxmlformats.org/officeDocument/2006/relationships/image" Target="../media/image5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5.jpeg"/><Relationship Id="rId1" Type="http://schemas.openxmlformats.org/officeDocument/2006/relationships/image" Target="../media/image5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6.jpeg"/><Relationship Id="rId1" Type="http://schemas.openxmlformats.org/officeDocument/2006/relationships/image" Target="../media/image5.jpeg"/></Relationships>
</file>

<file path=ppt/slides/_rels/slide6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57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5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jpeg"/><Relationship Id="rId1" Type="http://schemas.openxmlformats.org/officeDocument/2006/relationships/image" Target="../media/image5.jpeg"/></Relationships>
</file>

<file path=ppt/slides/_rels/slide6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59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60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2" name="Straight Connector 1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1266958"/>
            <a:ext cx="2904124" cy="4528457"/>
          </a:xfrm>
        </p:spPr>
        <p:txBody>
          <a:bodyPr anchor="ctr">
            <a:normAutofit/>
          </a:bodyPr>
          <a:lstStyle/>
          <a:p>
            <a:pPr algn="r"/>
            <a:r>
              <a:rPr lang="en-US" sz="2400" b="1" i="1" dirty="0">
                <a:solidFill>
                  <a:schemeClr val="tx2"/>
                </a:solidFill>
                <a:latin typeface="Arial(heading)"/>
                <a:cs typeface="Arial" panose="020B0604020202020204" pitchFamily="34" charset="0"/>
              </a:rPr>
              <a:t>“Exploring the Power of Agentic AI with IBM </a:t>
            </a:r>
            <a:r>
              <a:rPr lang="en-US" sz="2400" b="1" dirty="0">
                <a:solidFill>
                  <a:schemeClr val="tx2"/>
                </a:solidFill>
                <a:latin typeface="Arial(heading)"/>
                <a:cs typeface="Arial" panose="020B0604020202020204" pitchFamily="34" charset="0"/>
              </a:rPr>
              <a:t>Granite</a:t>
            </a:r>
            <a:r>
              <a:rPr lang="en-US" sz="2400" b="1" i="1" dirty="0">
                <a:solidFill>
                  <a:schemeClr val="tx2"/>
                </a:solidFill>
                <a:latin typeface="Arial(heading)"/>
                <a:cs typeface="Arial" panose="020B0604020202020204" pitchFamily="34" charset="0"/>
              </a:rPr>
              <a:t> and </a:t>
            </a:r>
            <a:r>
              <a:rPr lang="en-US" sz="2400" b="1" i="1" dirty="0" err="1">
                <a:solidFill>
                  <a:schemeClr val="tx2"/>
                </a:solidFill>
                <a:latin typeface="Arial(heading)"/>
                <a:cs typeface="Arial" panose="020B0604020202020204" pitchFamily="34" charset="0"/>
              </a:rPr>
              <a:t>LangFlow</a:t>
            </a:r>
            <a:r>
              <a:rPr lang="en-US" sz="2400" b="1" i="1" dirty="0">
                <a:solidFill>
                  <a:schemeClr val="tx2"/>
                </a:solidFill>
                <a:latin typeface="Arial(heading)"/>
                <a:cs typeface="Arial" panose="020B0604020202020204" pitchFamily="34" charset="0"/>
              </a:rPr>
              <a:t>”</a:t>
            </a:r>
            <a:endParaRPr lang="en-IN" sz="2400" b="1" dirty="0">
              <a:solidFill>
                <a:schemeClr val="tx2"/>
              </a:solidFill>
              <a:latin typeface="Arial(heading)"/>
              <a:cs typeface="Arial" panose="020B0604020202020204" pitchFamily="34" charset="0"/>
            </a:endParaRPr>
          </a:p>
          <a:p>
            <a:pPr algn="r"/>
            <a:endParaRPr lang="en-IN" sz="2400" dirty="0">
              <a:solidFill>
                <a:schemeClr val="tx2"/>
              </a:solidFill>
              <a:latin typeface="Arial(heading)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266958"/>
            <a:ext cx="6808362" cy="4528457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400" b="1" dirty="0">
                <a:latin typeface="Arial(heading)"/>
              </a:rPr>
              <a:t>IBM University Engagement Project Submission</a:t>
            </a:r>
            <a:endParaRPr lang="en-IN" sz="5400" dirty="0">
              <a:latin typeface="Arial(heading)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658" y="403124"/>
            <a:ext cx="8967481" cy="1167530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latin typeface="Arial(heading)"/>
              </a:rPr>
              <a:t>Project Title – </a:t>
            </a:r>
            <a:r>
              <a:rPr lang="en-US" sz="2800" b="1" dirty="0">
                <a:solidFill>
                  <a:schemeClr val="tx2"/>
                </a:solidFill>
                <a:latin typeface="Arial(heading)"/>
              </a:rPr>
              <a:t>[</a:t>
            </a:r>
            <a:r>
              <a:rPr lang="da-DK" sz="2800" b="1" dirty="0">
                <a:solidFill>
                  <a:schemeClr val="tx2"/>
                </a:solidFill>
                <a:latin typeface="Arial(heading)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Challenge 9 – Smart Industrial Pollution Monitoring for Golden Corridor (Vapi–</a:t>
            </a:r>
            <a:br>
              <a:rPr lang="da-DK" sz="2800" b="1" dirty="0">
                <a:solidFill>
                  <a:schemeClr val="tx2"/>
                </a:solidFill>
                <a:latin typeface="Arial(heading)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da-DK" sz="2800" b="1" dirty="0">
                <a:solidFill>
                  <a:schemeClr val="tx2"/>
                </a:solidFill>
                <a:latin typeface="Arial(heading)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Ankleswar) ]</a:t>
            </a:r>
            <a:br>
              <a:rPr lang="da-DK" sz="2800" b="1" dirty="0">
                <a:solidFill>
                  <a:schemeClr val="tx2"/>
                </a:solidFill>
                <a:latin typeface="Arial(heading)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en-IN" sz="2800" dirty="0">
              <a:solidFill>
                <a:schemeClr val="tx2"/>
              </a:solidFill>
              <a:latin typeface="Arial(heading)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602658" y="2681900"/>
          <a:ext cx="8238576" cy="37729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59644"/>
                <a:gridCol w="2059644"/>
                <a:gridCol w="2059644"/>
                <a:gridCol w="2059644"/>
              </a:tblGrid>
              <a:tr h="11534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600" b="1" u="none" strike="noStrike" cap="non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cap="non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Name</a:t>
                      </a:r>
                      <a:endParaRPr lang="en-US" sz="1800" b="1" u="none" strike="noStrike" cap="non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cap="non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Recent Passport Photo</a:t>
                      </a:r>
                      <a:endParaRPr lang="en-US" sz="1800" b="1" u="none" strike="noStrike" cap="non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I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u="none" strike="noStrike" cap="non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 panose="020F0502020204030204"/>
                        </a:rPr>
                        <a:t>Email ID </a:t>
                      </a:r>
                      <a:endParaRPr lang="en-US" sz="1800" b="1" u="none" strike="noStrike" cap="non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/>
                      </a:endParaRPr>
                    </a:p>
                    <a:p>
                      <a:pPr algn="ctr"/>
                      <a:endParaRPr lang="en-I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endParaRPr lang="en-US" sz="1800" b="1" u="none" strike="noStrike" cap="non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Calibri" panose="020F050202020403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 panose="020F0502020204030204"/>
                        </a:rPr>
                        <a:t>Mobile number</a:t>
                      </a:r>
                      <a:endParaRPr lang="en-US" sz="1800" b="1" u="none" strike="noStrike" cap="non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Calibri" panose="020F0502020204030204"/>
                        </a:rPr>
                        <a:t>[WhatsApp] </a:t>
                      </a:r>
                      <a:endParaRPr lang="en-US" sz="1800" b="1" u="none" strike="noStrike" cap="none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/>
                      </a:endParaRPr>
                    </a:p>
                    <a:p>
                      <a:pPr algn="just"/>
                      <a:endParaRPr lang="en-I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</a:tr>
              <a:tr h="873164"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Padia Bansari </a:t>
                      </a:r>
                      <a:endParaRPr lang="en-IN" sz="1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  <a:tc>
                  <a:txBody>
                    <a:bodyPr/>
                    <a:lstStyle/>
                    <a:p>
                      <a:pPr algn="ctr"/>
                      <a:endParaRPr lang="en-IN" sz="1000" b="1" dirty="0">
                        <a:solidFill>
                          <a:schemeClr val="bg1"/>
                        </a:solidFill>
                        <a:latin typeface="Arial(body)"/>
                        <a:cs typeface="Arial" panose="020B0604020202020204" pitchFamily="34" charset="0"/>
                      </a:endParaRPr>
                    </a:p>
                    <a:p>
                      <a:pPr algn="ctr"/>
                      <a:br>
                        <a:rPr lang="en-IN" sz="1000" b="1" dirty="0">
                          <a:solidFill>
                            <a:schemeClr val="bg1"/>
                          </a:solidFill>
                          <a:latin typeface="Arial(body)"/>
                          <a:cs typeface="Arial" panose="020B0604020202020204" pitchFamily="34" charset="0"/>
                        </a:rPr>
                      </a:br>
                      <a:r>
                        <a:rPr lang="en-IN" sz="1000" b="1" dirty="0">
                          <a:solidFill>
                            <a:schemeClr val="bg1"/>
                          </a:solidFill>
                          <a:latin typeface="Arial(body)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IN" sz="1000" b="1" dirty="0">
                          <a:solidFill>
                            <a:schemeClr val="bg1"/>
                          </a:solidFill>
                          <a:latin typeface="Arial(body)"/>
                          <a:cs typeface="Arial" panose="020B0604020202020204" pitchFamily="34" charset="0"/>
                        </a:rPr>
                        <a:t>ansaripadia2708@gmail.com</a:t>
                      </a:r>
                      <a:endParaRPr lang="en-IN" sz="1000" b="1" dirty="0">
                        <a:solidFill>
                          <a:schemeClr val="bg1"/>
                        </a:solidFill>
                        <a:latin typeface="Arial(body)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7069670736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</a:tr>
              <a:tr h="873164"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Gohel Tisha </a:t>
                      </a:r>
                      <a:endParaRPr lang="en-IN" sz="1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  <a:tc>
                  <a:txBody>
                    <a:bodyPr/>
                    <a:lstStyle/>
                    <a:p>
                      <a:pPr algn="ctr"/>
                      <a:endParaRPr lang="en-IN" sz="1100" b="1" dirty="0">
                        <a:solidFill>
                          <a:schemeClr val="bg1"/>
                        </a:solidFill>
                        <a:latin typeface="Arial(body)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IN" sz="1100" b="1" dirty="0">
                          <a:solidFill>
                            <a:schemeClr val="bg1"/>
                          </a:solidFill>
                          <a:latin typeface="Arial(body)"/>
                          <a:cs typeface="Arial" panose="020B0604020202020204" pitchFamily="34" charset="0"/>
                        </a:rPr>
                        <a:t>tishagohel1999@gmail.com</a:t>
                      </a:r>
                      <a:endParaRPr lang="en-IN" sz="1100" b="1" dirty="0">
                        <a:solidFill>
                          <a:schemeClr val="bg1"/>
                        </a:solidFill>
                        <a:latin typeface="Arial(body)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IN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9909159972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</a:tr>
              <a:tr h="873164"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Bhalara Harshdi</a:t>
                      </a:r>
                      <a:endParaRPr lang="en-IN" sz="1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IN" sz="1050" b="1" dirty="0">
                          <a:solidFill>
                            <a:schemeClr val="bg1"/>
                          </a:solidFill>
                          <a:latin typeface="Arial(body)"/>
                          <a:cs typeface="Arial" panose="020B0604020202020204" pitchFamily="34" charset="0"/>
                        </a:rPr>
                        <a:t>harshdibhalara@gmail.com</a:t>
                      </a:r>
                      <a:endParaRPr lang="en-IN" sz="1050" b="1" dirty="0">
                        <a:solidFill>
                          <a:schemeClr val="bg1"/>
                        </a:solidFill>
                        <a:latin typeface="Arial(body)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9624077183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391" marR="82391" marT="41196" marB="41196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602658" y="1778738"/>
            <a:ext cx="96159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(body)"/>
                <a:cs typeface="Arial" panose="020B0604020202020204" pitchFamily="34" charset="0"/>
              </a:rPr>
              <a:t>Domain of  Project </a:t>
            </a:r>
            <a:r>
              <a:rPr lang="en-US" sz="2000" b="1" dirty="0">
                <a:solidFill>
                  <a:schemeClr val="tx2"/>
                </a:solidFill>
                <a:latin typeface="Arial(body)"/>
                <a:cs typeface="Arial" panose="020B0604020202020204" pitchFamily="34" charset="0"/>
              </a:rPr>
              <a:t>– </a:t>
            </a:r>
            <a:r>
              <a:rPr lang="en-IN" sz="2000" b="1" dirty="0">
                <a:solidFill>
                  <a:schemeClr val="tx2"/>
                </a:solidFill>
                <a:latin typeface="Arial(body)"/>
                <a:cs typeface="Arial" panose="020B0604020202020204" pitchFamily="34" charset="0"/>
              </a:rPr>
              <a:t>Environmental Sustainability / Smart City / Industrial Safety / Agentic AI</a:t>
            </a:r>
            <a:endParaRPr lang="en-IN" sz="2000" b="1" dirty="0">
              <a:solidFill>
                <a:schemeClr val="tx2"/>
              </a:solidFill>
              <a:latin typeface="Arial(body)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1171" y="3865880"/>
            <a:ext cx="596324" cy="8077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544" y="4756518"/>
            <a:ext cx="626951" cy="8077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949" y="5647156"/>
            <a:ext cx="641546" cy="807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5" name="Picture 1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" name="Picture 4" descr="Infinite question marks in 3D rendering"/>
          <p:cNvPicPr>
            <a:picLocks noChangeAspect="1"/>
          </p:cNvPicPr>
          <p:nvPr/>
        </p:nvPicPr>
        <p:blipFill>
          <a:blip r:embed="rId6">
            <a:alphaModFix amt="25000"/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br>
              <a:rPr lang="en-US" sz="6600" b="1" dirty="0">
                <a:latin typeface="Arial(heading)"/>
                <a:cs typeface="Arial" panose="020B0604020202020204" pitchFamily="34" charset="0"/>
              </a:rPr>
            </a:br>
            <a:r>
              <a:rPr lang="en-US" sz="6600" b="1" dirty="0">
                <a:latin typeface="Arial(heading)"/>
                <a:cs typeface="Arial" panose="020B0604020202020204" pitchFamily="34" charset="0"/>
              </a:rPr>
              <a:t>1. Problem Statement</a:t>
            </a:r>
            <a:endParaRPr lang="en-US" sz="6600" b="1" dirty="0">
              <a:latin typeface="Arial(heading)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800" b="1" dirty="0">
                <a:solidFill>
                  <a:srgbClr val="EBEBEB"/>
                </a:solidFill>
                <a:latin typeface="Arial(heading)"/>
                <a:cs typeface="Arial" panose="020B0604020202020204" pitchFamily="34" charset="0"/>
              </a:rPr>
              <a:t>Problem Statement – Industrial Pollution Monitoring</a:t>
            </a:r>
            <a:br>
              <a:rPr lang="en-IN" sz="2800" b="1" dirty="0">
                <a:solidFill>
                  <a:srgbClr val="EBEBEB"/>
                </a:solidFill>
                <a:latin typeface="Arial(heading)"/>
                <a:cs typeface="Arial" panose="020B0604020202020204" pitchFamily="34" charset="0"/>
              </a:rPr>
            </a:br>
            <a:endParaRPr lang="en-IN" sz="2800" dirty="0">
              <a:solidFill>
                <a:srgbClr val="EBEBEB"/>
              </a:solidFill>
              <a:latin typeface="Arial(heading)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Content Placeholder 2"/>
          <p:cNvGraphicFramePr>
            <a:graphicFrameLocks noGrp="1"/>
          </p:cNvGraphicFramePr>
          <p:nvPr>
            <p:ph idx="1"/>
          </p:nvPr>
        </p:nvGraphicFramePr>
        <p:xfrm>
          <a:off x="314632" y="2603230"/>
          <a:ext cx="11700387" cy="38467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4" name="Picture 13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4" name="Picture 3" descr="Ladder up a hole"/>
          <p:cNvPicPr>
            <a:picLocks noChangeAspect="1"/>
          </p:cNvPicPr>
          <p:nvPr/>
        </p:nvPicPr>
        <p:blipFill>
          <a:blip r:embed="rId6">
            <a:alphaModFix amt="25000"/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746" y="2644499"/>
            <a:ext cx="8825658" cy="25371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dirty="0">
                <a:latin typeface="Arial(heading)"/>
                <a:cs typeface="Arial" panose="020B0604020202020204" pitchFamily="34" charset="0"/>
              </a:rPr>
              <a:t>2. The Challenge /The Objective </a:t>
            </a:r>
            <a:endParaRPr lang="en-US" sz="6600" b="1" dirty="0">
              <a:latin typeface="Arial(heading)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130" y="2057400"/>
            <a:ext cx="11120150" cy="4480560"/>
          </a:xfrm>
        </p:spPr>
        <p:txBody>
          <a:bodyPr>
            <a:normAutofit fontScale="92500" lnSpcReduction="20000"/>
          </a:bodyPr>
          <a:lstStyle/>
          <a:p>
            <a:r>
              <a:rPr lang="en-IN" sz="1800" b="1" dirty="0">
                <a:latin typeface="Arial(body)"/>
              </a:rPr>
              <a:t>Develop an intelligent system for the Vapi–</a:t>
            </a:r>
            <a:r>
              <a:rPr lang="en-IN" sz="1800" b="1" dirty="0" err="1">
                <a:latin typeface="Arial(body)"/>
              </a:rPr>
              <a:t>Ankleshwar</a:t>
            </a:r>
            <a:r>
              <a:rPr lang="en-IN" sz="1800" b="1" dirty="0">
                <a:latin typeface="Arial(body)"/>
              </a:rPr>
              <a:t> Golden Corridor that continuously monitors industrial air emissions and water effluents, detects abnormal pollution, identifies violations, assesses risk, and enables faster regulatory response.</a:t>
            </a:r>
            <a:endParaRPr lang="en-IN" sz="1800" b="1" dirty="0">
              <a:latin typeface="Arial(body)"/>
            </a:endParaRPr>
          </a:p>
          <a:p>
            <a:r>
              <a:rPr lang="en-IN" sz="1800" b="1" dirty="0">
                <a:latin typeface="Arial(body)"/>
              </a:rPr>
              <a:t>Objective:</a:t>
            </a:r>
            <a:endParaRPr lang="en-IN" sz="1800" b="1" dirty="0">
              <a:latin typeface="Arial(body)"/>
            </a:endParaRPr>
          </a:p>
          <a:p>
            <a:r>
              <a:rPr lang="en-IN" sz="1800" b="1" dirty="0" err="1">
                <a:latin typeface="Arial(body)"/>
              </a:rPr>
              <a:t>EcoGuard</a:t>
            </a:r>
            <a:r>
              <a:rPr lang="en-IN" sz="1800" b="1" dirty="0">
                <a:latin typeface="Arial(body)"/>
              </a:rPr>
              <a:t> AI is an Agentic AI-powered platform designed to:</a:t>
            </a:r>
            <a:endParaRPr lang="en-IN" sz="1800" b="1" dirty="0">
              <a:latin typeface="Arial(body)"/>
            </a:endParaRPr>
          </a:p>
          <a:p>
            <a:pPr lvl="0"/>
            <a:r>
              <a:rPr lang="en-IN" sz="1800" b="1" dirty="0">
                <a:latin typeface="Arial(body)"/>
              </a:rPr>
              <a:t>📡 Monitor real-time air &amp; water sensor data </a:t>
            </a:r>
            <a:endParaRPr lang="en-IN" sz="1800" b="1" dirty="0">
              <a:latin typeface="Arial(body)"/>
            </a:endParaRPr>
          </a:p>
          <a:p>
            <a:pPr lvl="0"/>
            <a:r>
              <a:rPr lang="en-IN" sz="1800" b="1" dirty="0">
                <a:latin typeface="Arial(body)"/>
              </a:rPr>
              <a:t>⚠️ Detect &amp; classify pollution and violations </a:t>
            </a:r>
            <a:endParaRPr lang="en-IN" sz="1800" b="1" dirty="0">
              <a:latin typeface="Arial(body)"/>
            </a:endParaRPr>
          </a:p>
          <a:p>
            <a:pPr lvl="0"/>
            <a:r>
              <a:rPr lang="en-IN" sz="1800" b="1" dirty="0">
                <a:latin typeface="Arial(body)"/>
              </a:rPr>
              <a:t>🚨 Generate real-time alerts &amp; escalation </a:t>
            </a:r>
            <a:endParaRPr lang="en-IN" sz="1800" b="1" dirty="0">
              <a:latin typeface="Arial(body)"/>
            </a:endParaRPr>
          </a:p>
          <a:p>
            <a:pPr lvl="0"/>
            <a:r>
              <a:rPr lang="en-IN" sz="1800" b="1" dirty="0">
                <a:latin typeface="Arial(body)"/>
              </a:rPr>
              <a:t>🏥 Assess environmental &amp; public-health risks </a:t>
            </a:r>
            <a:endParaRPr lang="en-IN" sz="1800" b="1" dirty="0">
              <a:latin typeface="Arial(body)"/>
            </a:endParaRPr>
          </a:p>
          <a:p>
            <a:pPr lvl="0"/>
            <a:r>
              <a:rPr lang="en-IN" sz="1800" b="1" dirty="0">
                <a:latin typeface="Arial(body)"/>
              </a:rPr>
              <a:t>🔍 Investigate pollution spikes </a:t>
            </a:r>
            <a:endParaRPr lang="en-IN" sz="1800" b="1" dirty="0">
              <a:latin typeface="Arial(body)"/>
            </a:endParaRPr>
          </a:p>
          <a:p>
            <a:pPr lvl="0"/>
            <a:r>
              <a:rPr lang="en-IN" sz="1800" b="1" dirty="0">
                <a:latin typeface="Arial(body)"/>
              </a:rPr>
              <a:t>🤖 Assist authorities with AI insights </a:t>
            </a:r>
            <a:endParaRPr lang="en-IN" sz="1800" b="1" dirty="0">
              <a:latin typeface="Arial(body)"/>
            </a:endParaRPr>
          </a:p>
          <a:p>
            <a:pPr lvl="0"/>
            <a:r>
              <a:rPr lang="en-IN" sz="1800" b="1" dirty="0">
                <a:latin typeface="Arial(body)"/>
              </a:rPr>
              <a:t>📄 Generate AI-powered compliance reports </a:t>
            </a:r>
            <a:endParaRPr lang="en-IN" sz="1800" b="1" dirty="0">
              <a:latin typeface="Arial(body)"/>
            </a:endParaRPr>
          </a:p>
          <a:p>
            <a:pPr lvl="0"/>
            <a:r>
              <a:rPr lang="en-IN" sz="1800" b="1" dirty="0">
                <a:latin typeface="Arial(body)"/>
              </a:rPr>
              <a:t>💬 Answer queries through a natural-language AI assistant </a:t>
            </a:r>
            <a:endParaRPr lang="en-IN" sz="1800" b="1" dirty="0">
              <a:latin typeface="Arial(body)"/>
            </a:endParaRPr>
          </a:p>
          <a:p>
            <a:pPr lvl="0"/>
            <a:r>
              <a:rPr lang="en-IN" sz="1800" b="1" dirty="0">
                <a:latin typeface="Arial(body)"/>
              </a:rPr>
              <a:t>📊 Visualize live pollution data &amp; agent activities in one dashboard </a:t>
            </a:r>
            <a:endParaRPr lang="en-IN" sz="1800" b="1" dirty="0">
              <a:latin typeface="Arial(body)"/>
            </a:endParaRPr>
          </a:p>
          <a:p>
            <a:endParaRPr lang="en-IN" sz="1200" dirty="0">
              <a:latin typeface="Arial(body)"/>
            </a:endParaRPr>
          </a:p>
          <a:p>
            <a:endParaRPr lang="en-IN" sz="1200" dirty="0">
              <a:latin typeface="Arial(body)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46111" y="320040"/>
            <a:ext cx="8452169" cy="1036320"/>
          </a:xfrm>
        </p:spPr>
        <p:txBody>
          <a:bodyPr/>
          <a:lstStyle/>
          <a:p>
            <a:r>
              <a:rPr lang="en-IN" sz="2800" b="1" dirty="0">
                <a:latin typeface="Arial(heading)"/>
                <a:cs typeface="Arial" panose="020B0604020202020204" pitchFamily="34" charset="0"/>
              </a:rPr>
              <a:t>Challenge 9:</a:t>
            </a:r>
            <a:br>
              <a:rPr lang="en-IN" sz="2800" b="1" dirty="0">
                <a:latin typeface="Arial(heading)"/>
                <a:cs typeface="Arial" panose="020B0604020202020204" pitchFamily="34" charset="0"/>
              </a:rPr>
            </a:br>
            <a:r>
              <a:rPr lang="en-IN" sz="2800" b="1" dirty="0">
                <a:latin typeface="Arial(heading)"/>
                <a:cs typeface="Arial" panose="020B0604020202020204" pitchFamily="34" charset="0"/>
              </a:rPr>
              <a:t>Smart Industrial Pollution Monitoring for Golden Corridor (Vapi–</a:t>
            </a:r>
            <a:r>
              <a:rPr lang="en-IN" sz="2800" b="1" dirty="0" err="1">
                <a:latin typeface="Arial(heading)"/>
                <a:cs typeface="Arial" panose="020B0604020202020204" pitchFamily="34" charset="0"/>
              </a:rPr>
              <a:t>Ankleshwar</a:t>
            </a:r>
            <a:r>
              <a:rPr lang="en-IN" sz="2800" b="1" dirty="0">
                <a:latin typeface="Arial(heading)"/>
                <a:cs typeface="Arial" panose="020B0604020202020204" pitchFamily="34" charset="0"/>
              </a:rPr>
              <a:t>)</a:t>
            </a:r>
            <a:br>
              <a:rPr lang="en-IN" sz="2800" b="1" dirty="0">
                <a:latin typeface="Arial(heading)"/>
                <a:cs typeface="Arial" panose="020B0604020202020204" pitchFamily="34" charset="0"/>
              </a:rPr>
            </a:br>
            <a:endParaRPr lang="en-IN" sz="2800" b="1" dirty="0">
              <a:latin typeface="Arial(heading)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3" name="Picture 2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4" name="Oval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25" name="Picture 2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6" name="Picture 2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2382" y="1454964"/>
            <a:ext cx="6261917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dirty="0">
                <a:latin typeface="Arial(heading)"/>
              </a:rPr>
              <a:t>3.Proposed Solution</a:t>
            </a:r>
            <a:endParaRPr lang="en-US" sz="6600" b="1" dirty="0">
              <a:latin typeface="Arial(heading)"/>
            </a:endParaRPr>
          </a:p>
        </p:txBody>
      </p:sp>
      <p:pic>
        <p:nvPicPr>
          <p:cNvPr id="28" name="Picture 27" descr="Question mark on green pastel background"/>
          <p:cNvPicPr>
            <a:picLocks noChangeAspect="1"/>
          </p:cNvPicPr>
          <p:nvPr/>
        </p:nvPicPr>
        <p:blipFill>
          <a:blip r:embed="rId6"/>
          <a:srcRect l="44653" r="4661"/>
          <a:stretch>
            <a:fillRect/>
          </a:stretch>
        </p:blipFill>
        <p:spPr>
          <a:xfrm>
            <a:off x="-1" y="10"/>
            <a:ext cx="4634681" cy="6857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172067"/>
            <a:ext cx="6188190" cy="1031894"/>
          </a:xfrm>
        </p:spPr>
        <p:txBody>
          <a:bodyPr>
            <a:normAutofit/>
          </a:bodyPr>
          <a:lstStyle/>
          <a:p>
            <a:br>
              <a:rPr lang="en-IN" sz="2800" b="1" dirty="0">
                <a:solidFill>
                  <a:srgbClr val="EBEBEB"/>
                </a:solidFill>
                <a:latin typeface="Arial(heading)"/>
              </a:rPr>
            </a:br>
            <a:r>
              <a:rPr lang="en-IN" sz="2800" b="1" dirty="0">
                <a:solidFill>
                  <a:srgbClr val="EBEBEB"/>
                </a:solidFill>
                <a:latin typeface="Arial(heading)"/>
              </a:rPr>
              <a:t>Proposed Solution</a:t>
            </a:r>
            <a:endParaRPr lang="en-IN" sz="2800" b="1" dirty="0">
              <a:solidFill>
                <a:srgbClr val="EBEBEB"/>
              </a:solidFill>
              <a:latin typeface="Arial(heading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930" y="1539240"/>
            <a:ext cx="6366624" cy="483108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IN" b="1" dirty="0">
                <a:solidFill>
                  <a:srgbClr val="FFFFFF"/>
                </a:solidFill>
                <a:latin typeface="Arial(body)"/>
              </a:rPr>
              <a:t>🌱 </a:t>
            </a:r>
            <a:r>
              <a:rPr lang="en-IN" b="1" dirty="0" err="1">
                <a:solidFill>
                  <a:srgbClr val="FFFFFF"/>
                </a:solidFill>
                <a:latin typeface="Arial(body)"/>
              </a:rPr>
              <a:t>EcoGuard</a:t>
            </a:r>
            <a:r>
              <a:rPr lang="en-IN" b="1" dirty="0">
                <a:solidFill>
                  <a:srgbClr val="FFFFFF"/>
                </a:solidFill>
                <a:latin typeface="Arial(body)"/>
              </a:rPr>
              <a:t> AI</a:t>
            </a:r>
            <a:endParaRPr lang="en-IN" b="1" dirty="0">
              <a:solidFill>
                <a:srgbClr val="FFFFFF"/>
              </a:solidFill>
              <a:latin typeface="Arial(body)"/>
            </a:endParaRPr>
          </a:p>
          <a:p>
            <a:pPr>
              <a:lnSpc>
                <a:spcPct val="90000"/>
              </a:lnSpc>
            </a:pPr>
            <a:r>
              <a:rPr lang="en-IN" b="1" dirty="0" err="1">
                <a:solidFill>
                  <a:srgbClr val="FFFFFF"/>
                </a:solidFill>
                <a:latin typeface="Arial(body)"/>
              </a:rPr>
              <a:t>EcoGuard</a:t>
            </a:r>
            <a:r>
              <a:rPr lang="en-IN" b="1" dirty="0">
                <a:solidFill>
                  <a:srgbClr val="FFFFFF"/>
                </a:solidFill>
                <a:latin typeface="Arial(body)"/>
              </a:rPr>
              <a:t> AI</a:t>
            </a:r>
            <a:r>
              <a:rPr lang="en-IN" dirty="0">
                <a:solidFill>
                  <a:srgbClr val="FFFFFF"/>
                </a:solidFill>
                <a:latin typeface="Arial(body)"/>
              </a:rPr>
              <a:t> is a </a:t>
            </a:r>
            <a:r>
              <a:rPr lang="en-IN" b="1" dirty="0">
                <a:solidFill>
                  <a:srgbClr val="FFFFFF"/>
                </a:solidFill>
                <a:latin typeface="Arial(body)"/>
              </a:rPr>
              <a:t>web-based Agentic AI platform</a:t>
            </a:r>
            <a:r>
              <a:rPr lang="en-IN" dirty="0">
                <a:solidFill>
                  <a:srgbClr val="FFFFFF"/>
                </a:solidFill>
                <a:latin typeface="Arial(body)"/>
              </a:rPr>
              <a:t> that continuously monitors industrial pollution, detects violations, assesses risks, and supports faster regulatory action.</a:t>
            </a:r>
            <a:endParaRPr lang="en-IN" dirty="0">
              <a:solidFill>
                <a:srgbClr val="FFFFFF"/>
              </a:solidFill>
              <a:latin typeface="Arial(body)"/>
            </a:endParaRPr>
          </a:p>
          <a:p>
            <a:pPr marL="0" indent="0">
              <a:lnSpc>
                <a:spcPct val="90000"/>
              </a:lnSpc>
              <a:buNone/>
            </a:pPr>
            <a:endParaRPr lang="en-IN" dirty="0">
              <a:solidFill>
                <a:srgbClr val="FFFFFF"/>
              </a:solidFill>
              <a:latin typeface="Arial(body)"/>
            </a:endParaRPr>
          </a:p>
          <a:p>
            <a:pPr>
              <a:lnSpc>
                <a:spcPct val="90000"/>
              </a:lnSpc>
            </a:pPr>
            <a:r>
              <a:rPr lang="en-IN" b="1" dirty="0">
                <a:solidFill>
                  <a:srgbClr val="FFFFFF"/>
                </a:solidFill>
                <a:latin typeface="Arial(body)"/>
              </a:rPr>
              <a:t>Flow:</a:t>
            </a:r>
            <a:endParaRPr lang="en-IN" b="1" dirty="0">
              <a:solidFill>
                <a:srgbClr val="FFFFFF"/>
              </a:solidFill>
              <a:latin typeface="Arial(body)"/>
            </a:endParaRPr>
          </a:p>
          <a:p>
            <a:pPr marL="0" indent="0">
              <a:lnSpc>
                <a:spcPct val="90000"/>
              </a:lnSpc>
              <a:buNone/>
            </a:pPr>
            <a:br>
              <a:rPr lang="en-IN" dirty="0">
                <a:solidFill>
                  <a:srgbClr val="FFFFFF"/>
                </a:solidFill>
                <a:latin typeface="Arial(body)"/>
              </a:rPr>
            </a:br>
            <a:r>
              <a:rPr lang="en-IN" dirty="0">
                <a:solidFill>
                  <a:srgbClr val="FFFFFF"/>
                </a:solidFill>
                <a:latin typeface="Arial(body)"/>
              </a:rPr>
              <a:t>	📡 </a:t>
            </a:r>
            <a:r>
              <a:rPr lang="en-IN" b="1" dirty="0">
                <a:solidFill>
                  <a:srgbClr val="FFFFFF"/>
                </a:solidFill>
                <a:latin typeface="Arial(body)"/>
              </a:rPr>
              <a:t>Sensor Data → Monitor → Detect → </a:t>
            </a:r>
            <a:r>
              <a:rPr lang="en-IN" b="1" dirty="0" err="1">
                <a:solidFill>
                  <a:srgbClr val="FFFFFF"/>
                </a:solidFill>
                <a:latin typeface="Arial(body)"/>
              </a:rPr>
              <a:t>Analyze</a:t>
            </a:r>
            <a:r>
              <a:rPr lang="en-IN" b="1" dirty="0">
                <a:solidFill>
                  <a:srgbClr val="FFFFFF"/>
                </a:solidFill>
                <a:latin typeface="Arial(body)"/>
              </a:rPr>
              <a:t> → Alert → Investigate → AI Report → Dashboard</a:t>
            </a:r>
            <a:endParaRPr lang="en-IN" dirty="0">
              <a:solidFill>
                <a:srgbClr val="FFFFFF"/>
              </a:solidFill>
              <a:latin typeface="Arial(body)"/>
            </a:endParaRPr>
          </a:p>
          <a:p>
            <a:pPr>
              <a:lnSpc>
                <a:spcPct val="90000"/>
              </a:lnSpc>
            </a:pPr>
            <a:r>
              <a:rPr lang="en-IN" b="1" dirty="0">
                <a:solidFill>
                  <a:srgbClr val="FFFFFF"/>
                </a:solidFill>
                <a:latin typeface="Arial(body)"/>
              </a:rPr>
              <a:t>Air Monitoring:</a:t>
            </a:r>
            <a:r>
              <a:rPr lang="en-IN" dirty="0">
                <a:solidFill>
                  <a:srgbClr val="FFFFFF"/>
                </a:solidFill>
                <a:latin typeface="Arial(body)"/>
              </a:rPr>
              <a:t> PM2.5, PM10, CO, SO₂, NO₂, VOCs, AQI</a:t>
            </a:r>
            <a:br>
              <a:rPr lang="en-IN" dirty="0">
                <a:solidFill>
                  <a:srgbClr val="FFFFFF"/>
                </a:solidFill>
                <a:latin typeface="Arial(body)"/>
              </a:rPr>
            </a:br>
            <a:r>
              <a:rPr lang="en-IN" b="1" dirty="0">
                <a:solidFill>
                  <a:srgbClr val="FFFFFF"/>
                </a:solidFill>
                <a:latin typeface="Arial(body)"/>
              </a:rPr>
              <a:t>Water Monitoring:</a:t>
            </a:r>
            <a:r>
              <a:rPr lang="en-IN" dirty="0">
                <a:solidFill>
                  <a:srgbClr val="FFFFFF"/>
                </a:solidFill>
                <a:latin typeface="Arial(body)"/>
              </a:rPr>
              <a:t> pH, COD, BOD, TDS, Temperature, Turbidity</a:t>
            </a:r>
            <a:endParaRPr lang="en-IN" dirty="0">
              <a:solidFill>
                <a:srgbClr val="FFFFFF"/>
              </a:solidFill>
              <a:latin typeface="Arial(body)"/>
            </a:endParaRPr>
          </a:p>
          <a:p>
            <a:pPr marL="0" indent="0">
              <a:lnSpc>
                <a:spcPct val="90000"/>
              </a:lnSpc>
              <a:buNone/>
            </a:pPr>
            <a:endParaRPr lang="en-IN" dirty="0">
              <a:solidFill>
                <a:srgbClr val="FFFFFF"/>
              </a:solidFill>
              <a:latin typeface="Arial(body)"/>
            </a:endParaRPr>
          </a:p>
          <a:p>
            <a:pPr>
              <a:lnSpc>
                <a:spcPct val="90000"/>
              </a:lnSpc>
            </a:pPr>
            <a:r>
              <a:rPr lang="en-IN" dirty="0">
                <a:solidFill>
                  <a:srgbClr val="FFFFFF"/>
                </a:solidFill>
                <a:latin typeface="Arial(body)"/>
              </a:rPr>
              <a:t>🔄 </a:t>
            </a:r>
            <a:r>
              <a:rPr lang="en-IN" b="1" dirty="0">
                <a:solidFill>
                  <a:srgbClr val="FFFFFF"/>
                </a:solidFill>
                <a:latin typeface="Arial(body)"/>
              </a:rPr>
              <a:t>Real-time sensor simulation</a:t>
            </a:r>
            <a:r>
              <a:rPr lang="en-IN" dirty="0">
                <a:solidFill>
                  <a:srgbClr val="FFFFFF"/>
                </a:solidFill>
                <a:latin typeface="Arial(body)"/>
              </a:rPr>
              <a:t> generates </a:t>
            </a:r>
            <a:r>
              <a:rPr lang="en-IN" b="1" dirty="0">
                <a:solidFill>
                  <a:srgbClr val="FFFFFF"/>
                </a:solidFill>
                <a:latin typeface="Arial(body)"/>
              </a:rPr>
              <a:t>Normal, Warning, High-Risk &amp; Critical</a:t>
            </a:r>
            <a:r>
              <a:rPr lang="en-IN" dirty="0">
                <a:solidFill>
                  <a:srgbClr val="FFFFFF"/>
                </a:solidFill>
                <a:latin typeface="Arial(body)"/>
              </a:rPr>
              <a:t> pollution scenarios.</a:t>
            </a:r>
            <a:endParaRPr lang="en-IN" dirty="0">
              <a:solidFill>
                <a:srgbClr val="FFFFFF"/>
              </a:solidFill>
              <a:latin typeface="Arial(body)"/>
            </a:endParaRPr>
          </a:p>
        </p:txBody>
      </p:sp>
      <p:sp>
        <p:nvSpPr>
          <p:cNvPr id="11" name="Freeform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/>
          <p:cNvPicPr>
            <a:picLocks noChangeAspect="1"/>
          </p:cNvPicPr>
          <p:nvPr/>
        </p:nvPicPr>
        <p:blipFill>
          <a:blip r:embed="rId2"/>
          <a:srcRect l="37289" r="2200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4" name="Picture 13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4" name="Picture 3" descr="An abstract blue pattern with numbers"/>
          <p:cNvPicPr>
            <a:picLocks noChangeAspect="1"/>
          </p:cNvPicPr>
          <p:nvPr/>
        </p:nvPicPr>
        <p:blipFill>
          <a:blip r:embed="rId6">
            <a:alphaModFix amt="25000"/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dirty="0">
                <a:latin typeface="Arial(heading)"/>
              </a:rPr>
              <a:t>4.Technology Used</a:t>
            </a:r>
            <a:endParaRPr lang="en-US" sz="6600" b="1" dirty="0">
              <a:latin typeface="Arial(heading)"/>
            </a:endParaRPr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351933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br>
              <a:rPr lang="en-US" sz="2400" b="1" dirty="0">
                <a:solidFill>
                  <a:srgbClr val="EBEBEB"/>
                </a:solidFill>
                <a:latin typeface="Arial(heading)"/>
              </a:rPr>
            </a:br>
            <a:r>
              <a:rPr lang="en-US" sz="2400" b="1" dirty="0">
                <a:solidFill>
                  <a:srgbClr val="EBEBEB"/>
                </a:solidFill>
                <a:latin typeface="Arial(heading)"/>
              </a:rPr>
              <a:t>Technology Used</a:t>
            </a:r>
            <a:br>
              <a:rPr lang="en-IN" sz="2400" b="1" dirty="0">
                <a:solidFill>
                  <a:srgbClr val="EBEBEB"/>
                </a:solidFill>
                <a:latin typeface="Arial(heading)"/>
              </a:rPr>
            </a:br>
            <a:endParaRPr lang="en-IN" sz="2400" dirty="0">
              <a:solidFill>
                <a:srgbClr val="EBEBEB"/>
              </a:solidFill>
              <a:latin typeface="Arial(heading)"/>
            </a:endParaRPr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2" name="Oval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4" name="Picture 33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6" name="Picture 3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8" name="Rectangle 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Rectangle 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012" y="1447800"/>
            <a:ext cx="6331900" cy="44405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6600" b="1" i="0" kern="1200" dirty="0">
                <a:solidFill>
                  <a:srgbClr val="EBEBEB"/>
                </a:solidFill>
                <a:latin typeface="Arial(heading)"/>
              </a:rPr>
              <a:t>5.Langflow Components Used</a:t>
            </a:r>
            <a:endParaRPr lang="en-US" sz="6600" b="1" i="0" kern="1200" dirty="0">
              <a:solidFill>
                <a:srgbClr val="EBEBEB"/>
              </a:solidFill>
              <a:latin typeface="Arial(heading)"/>
            </a:endParaRPr>
          </a:p>
        </p:txBody>
      </p:sp>
      <p:sp>
        <p:nvSpPr>
          <p:cNvPr id="42" name="Freeform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Freeform: Shape 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481964" cy="6858000"/>
          </a:xfrm>
          <a:custGeom>
            <a:avLst/>
            <a:gdLst>
              <a:gd name="connsiteX0" fmla="*/ 3137249 w 4481964"/>
              <a:gd name="connsiteY0" fmla="*/ 0 h 6858000"/>
              <a:gd name="connsiteX1" fmla="*/ 4480787 w 4481964"/>
              <a:gd name="connsiteY1" fmla="*/ 0 h 6858000"/>
              <a:gd name="connsiteX2" fmla="*/ 4455742 w 4481964"/>
              <a:gd name="connsiteY2" fmla="*/ 155676 h 6858000"/>
              <a:gd name="connsiteX3" fmla="*/ 4431873 w 4481964"/>
              <a:gd name="connsiteY3" fmla="*/ 310667 h 6858000"/>
              <a:gd name="connsiteX4" fmla="*/ 4408509 w 4481964"/>
              <a:gd name="connsiteY4" fmla="*/ 466344 h 6858000"/>
              <a:gd name="connsiteX5" fmla="*/ 4388506 w 4481964"/>
              <a:gd name="connsiteY5" fmla="*/ 622706 h 6858000"/>
              <a:gd name="connsiteX6" fmla="*/ 4368335 w 4481964"/>
              <a:gd name="connsiteY6" fmla="*/ 778383 h 6858000"/>
              <a:gd name="connsiteX7" fmla="*/ 4349509 w 4481964"/>
              <a:gd name="connsiteY7" fmla="*/ 934745 h 6858000"/>
              <a:gd name="connsiteX8" fmla="*/ 4333373 w 4481964"/>
              <a:gd name="connsiteY8" fmla="*/ 1089050 h 6858000"/>
              <a:gd name="connsiteX9" fmla="*/ 4318077 w 4481964"/>
              <a:gd name="connsiteY9" fmla="*/ 1245413 h 6858000"/>
              <a:gd name="connsiteX10" fmla="*/ 4304125 w 4481964"/>
              <a:gd name="connsiteY10" fmla="*/ 1401089 h 6858000"/>
              <a:gd name="connsiteX11" fmla="*/ 4292023 w 4481964"/>
              <a:gd name="connsiteY11" fmla="*/ 1554023 h 6858000"/>
              <a:gd name="connsiteX12" fmla="*/ 4279920 w 4481964"/>
              <a:gd name="connsiteY12" fmla="*/ 1709013 h 6858000"/>
              <a:gd name="connsiteX13" fmla="*/ 4269835 w 4481964"/>
              <a:gd name="connsiteY13" fmla="*/ 1861947 h 6858000"/>
              <a:gd name="connsiteX14" fmla="*/ 4261935 w 4481964"/>
              <a:gd name="connsiteY14" fmla="*/ 2014880 h 6858000"/>
              <a:gd name="connsiteX15" fmla="*/ 4253698 w 4481964"/>
              <a:gd name="connsiteY15" fmla="*/ 2167128 h 6858000"/>
              <a:gd name="connsiteX16" fmla="*/ 4246807 w 4481964"/>
              <a:gd name="connsiteY16" fmla="*/ 2318004 h 6858000"/>
              <a:gd name="connsiteX17" fmla="*/ 4241932 w 4481964"/>
              <a:gd name="connsiteY17" fmla="*/ 2467508 h 6858000"/>
              <a:gd name="connsiteX18" fmla="*/ 4237730 w 4481964"/>
              <a:gd name="connsiteY18" fmla="*/ 2617013 h 6858000"/>
              <a:gd name="connsiteX19" fmla="*/ 4233696 w 4481964"/>
              <a:gd name="connsiteY19" fmla="*/ 2765145 h 6858000"/>
              <a:gd name="connsiteX20" fmla="*/ 4231847 w 4481964"/>
              <a:gd name="connsiteY20" fmla="*/ 2911221 h 6858000"/>
              <a:gd name="connsiteX21" fmla="*/ 4229830 w 4481964"/>
              <a:gd name="connsiteY21" fmla="*/ 3057296 h 6858000"/>
              <a:gd name="connsiteX22" fmla="*/ 4228821 w 4481964"/>
              <a:gd name="connsiteY22" fmla="*/ 3201314 h 6858000"/>
              <a:gd name="connsiteX23" fmla="*/ 4229830 w 4481964"/>
              <a:gd name="connsiteY23" fmla="*/ 3343960 h 6858000"/>
              <a:gd name="connsiteX24" fmla="*/ 4229830 w 4481964"/>
              <a:gd name="connsiteY24" fmla="*/ 3485235 h 6858000"/>
              <a:gd name="connsiteX25" fmla="*/ 4231847 w 4481964"/>
              <a:gd name="connsiteY25" fmla="*/ 3625138 h 6858000"/>
              <a:gd name="connsiteX26" fmla="*/ 4234872 w 4481964"/>
              <a:gd name="connsiteY26" fmla="*/ 3762298 h 6858000"/>
              <a:gd name="connsiteX27" fmla="*/ 4237730 w 4481964"/>
              <a:gd name="connsiteY27" fmla="*/ 3898087 h 6858000"/>
              <a:gd name="connsiteX28" fmla="*/ 4240924 w 4481964"/>
              <a:gd name="connsiteY28" fmla="*/ 4031132 h 6858000"/>
              <a:gd name="connsiteX29" fmla="*/ 4245798 w 4481964"/>
              <a:gd name="connsiteY29" fmla="*/ 4163491 h 6858000"/>
              <a:gd name="connsiteX30" fmla="*/ 4251009 w 4481964"/>
              <a:gd name="connsiteY30" fmla="*/ 4293793 h 6858000"/>
              <a:gd name="connsiteX31" fmla="*/ 4255715 w 4481964"/>
              <a:gd name="connsiteY31" fmla="*/ 4421352 h 6858000"/>
              <a:gd name="connsiteX32" fmla="*/ 4268995 w 4481964"/>
              <a:gd name="connsiteY32" fmla="*/ 4670298 h 6858000"/>
              <a:gd name="connsiteX33" fmla="*/ 4283114 w 4481964"/>
              <a:gd name="connsiteY33" fmla="*/ 4908956 h 6858000"/>
              <a:gd name="connsiteX34" fmla="*/ 4297906 w 4481964"/>
              <a:gd name="connsiteY34" fmla="*/ 5138013 h 6858000"/>
              <a:gd name="connsiteX35" fmla="*/ 4314211 w 4481964"/>
              <a:gd name="connsiteY35" fmla="*/ 5354726 h 6858000"/>
              <a:gd name="connsiteX36" fmla="*/ 4331188 w 4481964"/>
              <a:gd name="connsiteY36" fmla="*/ 5561838 h 6858000"/>
              <a:gd name="connsiteX37" fmla="*/ 4349509 w 4481964"/>
              <a:gd name="connsiteY37" fmla="*/ 5753862 h 6858000"/>
              <a:gd name="connsiteX38" fmla="*/ 4367495 w 4481964"/>
              <a:gd name="connsiteY38" fmla="*/ 5934227 h 6858000"/>
              <a:gd name="connsiteX39" fmla="*/ 4385480 w 4481964"/>
              <a:gd name="connsiteY39" fmla="*/ 6100191 h 6858000"/>
              <a:gd name="connsiteX40" fmla="*/ 4402457 w 4481964"/>
              <a:gd name="connsiteY40" fmla="*/ 6252438 h 6858000"/>
              <a:gd name="connsiteX41" fmla="*/ 4418594 w 4481964"/>
              <a:gd name="connsiteY41" fmla="*/ 6387541 h 6858000"/>
              <a:gd name="connsiteX42" fmla="*/ 4433890 w 4481964"/>
              <a:gd name="connsiteY42" fmla="*/ 6509613 h 6858000"/>
              <a:gd name="connsiteX43" fmla="*/ 4446665 w 4481964"/>
              <a:gd name="connsiteY43" fmla="*/ 6612483 h 6858000"/>
              <a:gd name="connsiteX44" fmla="*/ 4458767 w 4481964"/>
              <a:gd name="connsiteY44" fmla="*/ 6698894 h 6858000"/>
              <a:gd name="connsiteX45" fmla="*/ 4476081 w 4481964"/>
              <a:gd name="connsiteY45" fmla="*/ 6817538 h 6858000"/>
              <a:gd name="connsiteX46" fmla="*/ 4481964 w 4481964"/>
              <a:gd name="connsiteY46" fmla="*/ 6858000 h 6858000"/>
              <a:gd name="connsiteX47" fmla="*/ 3577807 w 4481964"/>
              <a:gd name="connsiteY47" fmla="*/ 6858000 h 6858000"/>
              <a:gd name="connsiteX48" fmla="*/ 3577807 w 4481964"/>
              <a:gd name="connsiteY48" fmla="*/ 6858000 h 6858000"/>
              <a:gd name="connsiteX49" fmla="*/ 0 w 4481964"/>
              <a:gd name="connsiteY49" fmla="*/ 6858000 h 6858000"/>
              <a:gd name="connsiteX50" fmla="*/ 0 w 4481964"/>
              <a:gd name="connsiteY50" fmla="*/ 0 h 6858000"/>
              <a:gd name="connsiteX51" fmla="*/ 3137249 w 448196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481964" h="6858000">
                <a:moveTo>
                  <a:pt x="3137249" y="0"/>
                </a:move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3577807" y="6858000"/>
                </a:lnTo>
                <a:lnTo>
                  <a:pt x="0" y="6858000"/>
                </a:lnTo>
                <a:lnTo>
                  <a:pt x="0" y="0"/>
                </a:lnTo>
                <a:lnTo>
                  <a:pt x="313724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Rectangle 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" name="Graphic 4" descr="Web design outlin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240" y="2074882"/>
            <a:ext cx="2936836" cy="2936836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 err="1">
                <a:latin typeface="Arial(heading)"/>
              </a:rPr>
              <a:t>Langflow</a:t>
            </a:r>
            <a:r>
              <a:rPr lang="en-IN" sz="2800" b="1" dirty="0">
                <a:latin typeface="Arial(heading)"/>
              </a:rPr>
              <a:t> Components Used</a:t>
            </a:r>
            <a:endParaRPr lang="en-IN" sz="2800" b="1" dirty="0">
              <a:latin typeface="Arial(heading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132" y="1307690"/>
            <a:ext cx="11055256" cy="5338916"/>
          </a:xfrm>
        </p:spPr>
        <p:txBody>
          <a:bodyPr>
            <a:normAutofit fontScale="92500" lnSpcReduction="10000"/>
          </a:bodyPr>
          <a:lstStyle/>
          <a:p>
            <a:r>
              <a:rPr lang="en-IN" sz="1800" b="1" dirty="0">
                <a:latin typeface="Arial(body)"/>
              </a:rPr>
              <a:t>1) Chat/Input Component</a:t>
            </a:r>
            <a:r>
              <a:rPr lang="en-IN" sz="1800" dirty="0">
                <a:latin typeface="Arial(body)"/>
              </a:rPr>
              <a:t> – Receives user queries related to pollution, industries, air quality, water quality, violations, and environmental risks.</a:t>
            </a:r>
            <a:endParaRPr lang="en-IN" sz="1800" dirty="0">
              <a:latin typeface="Arial(body)"/>
            </a:endParaRPr>
          </a:p>
          <a:p>
            <a:r>
              <a:rPr lang="en-IN" sz="1800" b="1" dirty="0">
                <a:latin typeface="Arial(body)"/>
              </a:rPr>
              <a:t>2) API Request / HTTP Component</a:t>
            </a:r>
            <a:r>
              <a:rPr lang="en-IN" sz="1800" dirty="0">
                <a:latin typeface="Arial(body)"/>
              </a:rPr>
              <a:t> – Connects </a:t>
            </a:r>
            <a:r>
              <a:rPr lang="en-IN" sz="1800" dirty="0" err="1">
                <a:latin typeface="Arial(body)"/>
              </a:rPr>
              <a:t>Langflow</a:t>
            </a:r>
            <a:r>
              <a:rPr lang="en-IN" sz="1800" dirty="0">
                <a:latin typeface="Arial(body)"/>
              </a:rPr>
              <a:t> with the </a:t>
            </a:r>
            <a:r>
              <a:rPr lang="en-IN" sz="1800" dirty="0" err="1">
                <a:latin typeface="Arial(body)"/>
              </a:rPr>
              <a:t>EcoGuard</a:t>
            </a:r>
            <a:r>
              <a:rPr lang="en-IN" sz="1800" dirty="0">
                <a:latin typeface="Arial(body)"/>
              </a:rPr>
              <a:t> backend to retrieve real-time sensor readings, violations, alerts, industries, and risk data.</a:t>
            </a:r>
            <a:endParaRPr lang="en-IN" sz="1800" dirty="0">
              <a:latin typeface="Arial(body)"/>
            </a:endParaRPr>
          </a:p>
          <a:p>
            <a:r>
              <a:rPr lang="en-IN" sz="1800" b="1" dirty="0">
                <a:latin typeface="Arial(body)"/>
              </a:rPr>
              <a:t>3) JSON/Data Component</a:t>
            </a:r>
            <a:r>
              <a:rPr lang="en-IN" sz="1800" dirty="0">
                <a:latin typeface="Arial(body)"/>
              </a:rPr>
              <a:t> – Processes structured pollution and sensor data received from the backend.</a:t>
            </a:r>
            <a:endParaRPr lang="en-IN" sz="1800" dirty="0">
              <a:latin typeface="Arial(body)"/>
            </a:endParaRPr>
          </a:p>
          <a:p>
            <a:r>
              <a:rPr lang="en-IN" sz="1800" b="1" dirty="0">
                <a:latin typeface="Arial(body)"/>
              </a:rPr>
              <a:t>4) Prompt Template</a:t>
            </a:r>
            <a:r>
              <a:rPr lang="en-IN" sz="1800" dirty="0">
                <a:latin typeface="Arial(body)"/>
              </a:rPr>
              <a:t> – Converts pollution data and user queries into structured prompts for AI analysis.</a:t>
            </a:r>
            <a:endParaRPr lang="en-IN" sz="1800" dirty="0">
              <a:latin typeface="Arial(body)"/>
            </a:endParaRPr>
          </a:p>
          <a:p>
            <a:r>
              <a:rPr lang="en-IN" sz="1800" b="1" dirty="0">
                <a:latin typeface="Arial(body)"/>
              </a:rPr>
              <a:t>5) IBM </a:t>
            </a:r>
            <a:r>
              <a:rPr lang="en-IN" sz="1800" b="1" dirty="0" err="1">
                <a:latin typeface="Arial(body)"/>
              </a:rPr>
              <a:t>watsonx</a:t>
            </a:r>
            <a:r>
              <a:rPr lang="en-IN" sz="1800" b="1" dirty="0">
                <a:latin typeface="Arial(body)"/>
              </a:rPr>
              <a:t> AI Agent</a:t>
            </a:r>
            <a:r>
              <a:rPr lang="en-IN" sz="1800" dirty="0">
                <a:latin typeface="Arial(body)"/>
              </a:rPr>
              <a:t> – Processes environmental data and user queries using IBM Granite to generate intelligent pollution insights and recommendations.</a:t>
            </a:r>
            <a:endParaRPr lang="en-IN" sz="1800" dirty="0">
              <a:latin typeface="Arial(body)"/>
            </a:endParaRPr>
          </a:p>
          <a:p>
            <a:r>
              <a:rPr lang="en-IN" sz="1800" b="1" dirty="0">
                <a:latin typeface="Arial(body)"/>
              </a:rPr>
              <a:t>6) IBM Granite Model</a:t>
            </a:r>
            <a:r>
              <a:rPr lang="en-IN" sz="1800" dirty="0">
                <a:latin typeface="Arial(body)"/>
              </a:rPr>
              <a:t> – </a:t>
            </a:r>
            <a:r>
              <a:rPr lang="en-IN" sz="1800" b="1" dirty="0">
                <a:latin typeface="Arial(body)"/>
              </a:rPr>
              <a:t>Granite-4.0-8B-Instruct</a:t>
            </a:r>
            <a:r>
              <a:rPr lang="en-IN" sz="1800" dirty="0">
                <a:latin typeface="Arial(body)"/>
              </a:rPr>
              <a:t> → Used for fast, efficient environmental analysis, natural-language responses, and AI-generated compliance reports.</a:t>
            </a:r>
            <a:endParaRPr lang="en-IN" sz="1800" dirty="0">
              <a:latin typeface="Arial(body)"/>
            </a:endParaRPr>
          </a:p>
          <a:p>
            <a:r>
              <a:rPr lang="en-IN" sz="1800" b="1" dirty="0">
                <a:latin typeface="Arial(body)"/>
              </a:rPr>
              <a:t>7) Condition / Router Component</a:t>
            </a:r>
            <a:r>
              <a:rPr lang="en-IN" sz="1800" dirty="0">
                <a:latin typeface="Arial(body)"/>
              </a:rPr>
              <a:t> – Classifies pollution conditions as </a:t>
            </a:r>
            <a:r>
              <a:rPr lang="en-IN" sz="1800" b="1" dirty="0">
                <a:latin typeface="Arial(body)"/>
              </a:rPr>
              <a:t>Normal, Warning, High, or Critical</a:t>
            </a:r>
            <a:r>
              <a:rPr lang="en-IN" sz="1800" dirty="0">
                <a:latin typeface="Arial(body)"/>
              </a:rPr>
              <a:t> and routes them to the appropriate agent/action.</a:t>
            </a:r>
            <a:endParaRPr lang="en-IN" sz="1800" dirty="0">
              <a:latin typeface="Arial(body)"/>
            </a:endParaRPr>
          </a:p>
          <a:p>
            <a:r>
              <a:rPr lang="en-IN" sz="1800" b="1" dirty="0">
                <a:latin typeface="Arial(body)"/>
              </a:rPr>
              <a:t>8) Agent / Tool Component</a:t>
            </a:r>
            <a:r>
              <a:rPr lang="en-IN" sz="1800" dirty="0">
                <a:latin typeface="Arial(body)"/>
              </a:rPr>
              <a:t> – Supports specialized agents for </a:t>
            </a:r>
            <a:r>
              <a:rPr lang="en-IN" sz="1800" b="1" dirty="0">
                <a:latin typeface="Arial(body)"/>
              </a:rPr>
              <a:t>monitoring, violation detection, regulatory alerts, health-risk assessment, investigation, and dashboard intelligence</a:t>
            </a:r>
            <a:r>
              <a:rPr lang="en-IN" sz="1800" dirty="0">
                <a:latin typeface="Arial(body)"/>
              </a:rPr>
              <a:t>.</a:t>
            </a:r>
            <a:endParaRPr lang="en-IN" sz="1800" dirty="0">
              <a:latin typeface="Arial(body)"/>
            </a:endParaRPr>
          </a:p>
          <a:p>
            <a:r>
              <a:rPr lang="en-IN" sz="1800" b="1" dirty="0">
                <a:latin typeface="Arial(body)"/>
              </a:rPr>
              <a:t>9) Memory Component</a:t>
            </a:r>
            <a:r>
              <a:rPr lang="en-IN" sz="1800" dirty="0">
                <a:latin typeface="Arial(body)"/>
              </a:rPr>
              <a:t> – Maintains relevant conversation/context information for continuous AI interaction.</a:t>
            </a:r>
            <a:endParaRPr lang="en-IN" sz="1800" dirty="0">
              <a:latin typeface="Arial(body)"/>
            </a:endParaRPr>
          </a:p>
          <a:p>
            <a:r>
              <a:rPr lang="en-IN" sz="1800" b="1" dirty="0">
                <a:latin typeface="Arial(body)"/>
              </a:rPr>
              <a:t>10) Output Parser</a:t>
            </a:r>
            <a:r>
              <a:rPr lang="en-IN" sz="1800" dirty="0">
                <a:latin typeface="Arial(body)"/>
              </a:rPr>
              <a:t> – Structures AI-generated analysis into readable results such as risk level, violation details, recommendations, and reports.</a:t>
            </a:r>
            <a:endParaRPr lang="en-IN" sz="1800" dirty="0">
              <a:latin typeface="Arial(body)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5" name="Picture 1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012" y="1447800"/>
            <a:ext cx="5222325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i="0" kern="1200" dirty="0">
                <a:solidFill>
                  <a:srgbClr val="EBEBEB"/>
                </a:solidFill>
                <a:latin typeface="Arial(heading)"/>
                <a:sym typeface="Times New Roman" panose="02020603050405020304"/>
              </a:rPr>
              <a:t>6.Langflow workflow </a:t>
            </a:r>
            <a:endParaRPr lang="en-US" sz="6600" b="1" i="0" kern="1200" dirty="0">
              <a:solidFill>
                <a:srgbClr val="EBEBEB"/>
              </a:solidFill>
              <a:latin typeface="Arial(heading)"/>
            </a:endParaRPr>
          </a:p>
        </p:txBody>
      </p:sp>
      <p:sp>
        <p:nvSpPr>
          <p:cNvPr id="23" name="Freeform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481964" cy="6858000"/>
          </a:xfrm>
          <a:custGeom>
            <a:avLst/>
            <a:gdLst>
              <a:gd name="connsiteX0" fmla="*/ 3137249 w 4481964"/>
              <a:gd name="connsiteY0" fmla="*/ 0 h 6858000"/>
              <a:gd name="connsiteX1" fmla="*/ 4480787 w 4481964"/>
              <a:gd name="connsiteY1" fmla="*/ 0 h 6858000"/>
              <a:gd name="connsiteX2" fmla="*/ 4455742 w 4481964"/>
              <a:gd name="connsiteY2" fmla="*/ 155676 h 6858000"/>
              <a:gd name="connsiteX3" fmla="*/ 4431873 w 4481964"/>
              <a:gd name="connsiteY3" fmla="*/ 310667 h 6858000"/>
              <a:gd name="connsiteX4" fmla="*/ 4408509 w 4481964"/>
              <a:gd name="connsiteY4" fmla="*/ 466344 h 6858000"/>
              <a:gd name="connsiteX5" fmla="*/ 4388506 w 4481964"/>
              <a:gd name="connsiteY5" fmla="*/ 622706 h 6858000"/>
              <a:gd name="connsiteX6" fmla="*/ 4368335 w 4481964"/>
              <a:gd name="connsiteY6" fmla="*/ 778383 h 6858000"/>
              <a:gd name="connsiteX7" fmla="*/ 4349509 w 4481964"/>
              <a:gd name="connsiteY7" fmla="*/ 934745 h 6858000"/>
              <a:gd name="connsiteX8" fmla="*/ 4333373 w 4481964"/>
              <a:gd name="connsiteY8" fmla="*/ 1089050 h 6858000"/>
              <a:gd name="connsiteX9" fmla="*/ 4318077 w 4481964"/>
              <a:gd name="connsiteY9" fmla="*/ 1245413 h 6858000"/>
              <a:gd name="connsiteX10" fmla="*/ 4304125 w 4481964"/>
              <a:gd name="connsiteY10" fmla="*/ 1401089 h 6858000"/>
              <a:gd name="connsiteX11" fmla="*/ 4292023 w 4481964"/>
              <a:gd name="connsiteY11" fmla="*/ 1554023 h 6858000"/>
              <a:gd name="connsiteX12" fmla="*/ 4279920 w 4481964"/>
              <a:gd name="connsiteY12" fmla="*/ 1709013 h 6858000"/>
              <a:gd name="connsiteX13" fmla="*/ 4269835 w 4481964"/>
              <a:gd name="connsiteY13" fmla="*/ 1861947 h 6858000"/>
              <a:gd name="connsiteX14" fmla="*/ 4261935 w 4481964"/>
              <a:gd name="connsiteY14" fmla="*/ 2014880 h 6858000"/>
              <a:gd name="connsiteX15" fmla="*/ 4253698 w 4481964"/>
              <a:gd name="connsiteY15" fmla="*/ 2167128 h 6858000"/>
              <a:gd name="connsiteX16" fmla="*/ 4246807 w 4481964"/>
              <a:gd name="connsiteY16" fmla="*/ 2318004 h 6858000"/>
              <a:gd name="connsiteX17" fmla="*/ 4241932 w 4481964"/>
              <a:gd name="connsiteY17" fmla="*/ 2467508 h 6858000"/>
              <a:gd name="connsiteX18" fmla="*/ 4237730 w 4481964"/>
              <a:gd name="connsiteY18" fmla="*/ 2617013 h 6858000"/>
              <a:gd name="connsiteX19" fmla="*/ 4233696 w 4481964"/>
              <a:gd name="connsiteY19" fmla="*/ 2765145 h 6858000"/>
              <a:gd name="connsiteX20" fmla="*/ 4231847 w 4481964"/>
              <a:gd name="connsiteY20" fmla="*/ 2911221 h 6858000"/>
              <a:gd name="connsiteX21" fmla="*/ 4229830 w 4481964"/>
              <a:gd name="connsiteY21" fmla="*/ 3057296 h 6858000"/>
              <a:gd name="connsiteX22" fmla="*/ 4228821 w 4481964"/>
              <a:gd name="connsiteY22" fmla="*/ 3201314 h 6858000"/>
              <a:gd name="connsiteX23" fmla="*/ 4229830 w 4481964"/>
              <a:gd name="connsiteY23" fmla="*/ 3343960 h 6858000"/>
              <a:gd name="connsiteX24" fmla="*/ 4229830 w 4481964"/>
              <a:gd name="connsiteY24" fmla="*/ 3485235 h 6858000"/>
              <a:gd name="connsiteX25" fmla="*/ 4231847 w 4481964"/>
              <a:gd name="connsiteY25" fmla="*/ 3625138 h 6858000"/>
              <a:gd name="connsiteX26" fmla="*/ 4234872 w 4481964"/>
              <a:gd name="connsiteY26" fmla="*/ 3762298 h 6858000"/>
              <a:gd name="connsiteX27" fmla="*/ 4237730 w 4481964"/>
              <a:gd name="connsiteY27" fmla="*/ 3898087 h 6858000"/>
              <a:gd name="connsiteX28" fmla="*/ 4240924 w 4481964"/>
              <a:gd name="connsiteY28" fmla="*/ 4031132 h 6858000"/>
              <a:gd name="connsiteX29" fmla="*/ 4245798 w 4481964"/>
              <a:gd name="connsiteY29" fmla="*/ 4163491 h 6858000"/>
              <a:gd name="connsiteX30" fmla="*/ 4251009 w 4481964"/>
              <a:gd name="connsiteY30" fmla="*/ 4293793 h 6858000"/>
              <a:gd name="connsiteX31" fmla="*/ 4255715 w 4481964"/>
              <a:gd name="connsiteY31" fmla="*/ 4421352 h 6858000"/>
              <a:gd name="connsiteX32" fmla="*/ 4268995 w 4481964"/>
              <a:gd name="connsiteY32" fmla="*/ 4670298 h 6858000"/>
              <a:gd name="connsiteX33" fmla="*/ 4283114 w 4481964"/>
              <a:gd name="connsiteY33" fmla="*/ 4908956 h 6858000"/>
              <a:gd name="connsiteX34" fmla="*/ 4297906 w 4481964"/>
              <a:gd name="connsiteY34" fmla="*/ 5138013 h 6858000"/>
              <a:gd name="connsiteX35" fmla="*/ 4314211 w 4481964"/>
              <a:gd name="connsiteY35" fmla="*/ 5354726 h 6858000"/>
              <a:gd name="connsiteX36" fmla="*/ 4331188 w 4481964"/>
              <a:gd name="connsiteY36" fmla="*/ 5561838 h 6858000"/>
              <a:gd name="connsiteX37" fmla="*/ 4349509 w 4481964"/>
              <a:gd name="connsiteY37" fmla="*/ 5753862 h 6858000"/>
              <a:gd name="connsiteX38" fmla="*/ 4367495 w 4481964"/>
              <a:gd name="connsiteY38" fmla="*/ 5934227 h 6858000"/>
              <a:gd name="connsiteX39" fmla="*/ 4385480 w 4481964"/>
              <a:gd name="connsiteY39" fmla="*/ 6100191 h 6858000"/>
              <a:gd name="connsiteX40" fmla="*/ 4402457 w 4481964"/>
              <a:gd name="connsiteY40" fmla="*/ 6252438 h 6858000"/>
              <a:gd name="connsiteX41" fmla="*/ 4418594 w 4481964"/>
              <a:gd name="connsiteY41" fmla="*/ 6387541 h 6858000"/>
              <a:gd name="connsiteX42" fmla="*/ 4433890 w 4481964"/>
              <a:gd name="connsiteY42" fmla="*/ 6509613 h 6858000"/>
              <a:gd name="connsiteX43" fmla="*/ 4446665 w 4481964"/>
              <a:gd name="connsiteY43" fmla="*/ 6612483 h 6858000"/>
              <a:gd name="connsiteX44" fmla="*/ 4458767 w 4481964"/>
              <a:gd name="connsiteY44" fmla="*/ 6698894 h 6858000"/>
              <a:gd name="connsiteX45" fmla="*/ 4476081 w 4481964"/>
              <a:gd name="connsiteY45" fmla="*/ 6817538 h 6858000"/>
              <a:gd name="connsiteX46" fmla="*/ 4481964 w 4481964"/>
              <a:gd name="connsiteY46" fmla="*/ 6858000 h 6858000"/>
              <a:gd name="connsiteX47" fmla="*/ 3577807 w 4481964"/>
              <a:gd name="connsiteY47" fmla="*/ 6858000 h 6858000"/>
              <a:gd name="connsiteX48" fmla="*/ 3577807 w 4481964"/>
              <a:gd name="connsiteY48" fmla="*/ 6858000 h 6858000"/>
              <a:gd name="connsiteX49" fmla="*/ 0 w 4481964"/>
              <a:gd name="connsiteY49" fmla="*/ 6858000 h 6858000"/>
              <a:gd name="connsiteX50" fmla="*/ 0 w 4481964"/>
              <a:gd name="connsiteY50" fmla="*/ 0 h 6858000"/>
              <a:gd name="connsiteX51" fmla="*/ 3137249 w 448196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481964" h="6858000">
                <a:moveTo>
                  <a:pt x="3137249" y="0"/>
                </a:move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3577807" y="6858000"/>
                </a:lnTo>
                <a:lnTo>
                  <a:pt x="0" y="6858000"/>
                </a:lnTo>
                <a:lnTo>
                  <a:pt x="0" y="0"/>
                </a:lnTo>
                <a:lnTo>
                  <a:pt x="313724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6" name="Graphic 5" descr="Workflow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240" y="2074882"/>
            <a:ext cx="2936836" cy="2936836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r="1" b="7116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5" name="Picture 2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6" name="Oval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27" name="Picture 26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8" name="Picture 27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9" name="Rectangl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0" name="Picture 29" descr="Draft drawing of a floor plan"/>
          <p:cNvPicPr>
            <a:picLocks noChangeAspect="1"/>
          </p:cNvPicPr>
          <p:nvPr/>
        </p:nvPicPr>
        <p:blipFill>
          <a:blip r:embed="rId6">
            <a:alphaModFix amt="25000"/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t="184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dirty="0">
                <a:latin typeface="Arial(heading)"/>
                <a:sym typeface="Calibri" panose="020F0502020204030204"/>
              </a:rPr>
              <a:t>7.Architecture blueprint</a:t>
            </a:r>
            <a:endParaRPr lang="en-US" sz="6600" b="1" dirty="0">
              <a:latin typeface="Arial(heading)"/>
            </a:endParaRPr>
          </a:p>
        </p:txBody>
      </p:sp>
      <p:sp>
        <p:nvSpPr>
          <p:cNvPr id="31" name="Rectangle 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17" y="643467"/>
            <a:ext cx="8346166" cy="5571066"/>
          </a:xfrm>
          <a:prstGeom prst="rect">
            <a:avLst/>
          </a:prstGeom>
        </p:spPr>
      </p:pic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4" name="Picture 13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n example of a molecular structure"/>
          <p:cNvPicPr>
            <a:picLocks noChangeAspect="1"/>
          </p:cNvPicPr>
          <p:nvPr/>
        </p:nvPicPr>
        <p:blipFill>
          <a:blip r:embed="rId5">
            <a:alphaModFix amt="40000"/>
          </a:blip>
          <a:srcRect t="2850" b="1533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dirty="0">
                <a:solidFill>
                  <a:schemeClr val="tx1"/>
                </a:solidFill>
                <a:latin typeface="Arial(heading)"/>
              </a:rPr>
              <a:t>8.Role of Agentic AI in the solution </a:t>
            </a:r>
            <a:endParaRPr lang="en-US" sz="6600" b="1" dirty="0">
              <a:solidFill>
                <a:schemeClr val="tx1"/>
              </a:solidFill>
              <a:latin typeface="Arial(heading)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6147"/>
          </a:xfrm>
        </p:spPr>
        <p:txBody>
          <a:bodyPr/>
          <a:lstStyle/>
          <a:p>
            <a:r>
              <a:rPr lang="en-US" sz="2800" b="1" dirty="0">
                <a:latin typeface="Arial(heading)"/>
              </a:rPr>
              <a:t>Role of Agentic AI in the solution </a:t>
            </a:r>
            <a:endParaRPr lang="en-IN" sz="2800" dirty="0">
              <a:latin typeface="Arial(heading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5" y="1071715"/>
            <a:ext cx="10127225" cy="5594555"/>
          </a:xfrm>
        </p:spPr>
        <p:txBody>
          <a:bodyPr>
            <a:normAutofit fontScale="92500" lnSpcReduction="10000"/>
          </a:bodyPr>
          <a:lstStyle/>
          <a:p>
            <a:r>
              <a:rPr lang="en-IN" sz="1800" dirty="0">
                <a:latin typeface="Arial(body)"/>
              </a:rPr>
              <a:t>Agentic AI enables </a:t>
            </a:r>
            <a:r>
              <a:rPr lang="en-IN" sz="1800" dirty="0" err="1">
                <a:latin typeface="Arial(body)"/>
              </a:rPr>
              <a:t>EcoGuard</a:t>
            </a:r>
            <a:r>
              <a:rPr lang="en-IN" sz="1800" dirty="0">
                <a:latin typeface="Arial(body)"/>
              </a:rPr>
              <a:t> AI to function as an intelligent and proactive environmental monitoring system rather than a simple monitoring dashboard. Using IBM watsonx.ai and IBM Granite models, the system </a:t>
            </a:r>
            <a:r>
              <a:rPr lang="en-IN" sz="1800" dirty="0" err="1">
                <a:latin typeface="Arial(body)"/>
              </a:rPr>
              <a:t>analyzes</a:t>
            </a:r>
            <a:r>
              <a:rPr lang="en-IN" sz="1800" dirty="0">
                <a:latin typeface="Arial(body)"/>
              </a:rPr>
              <a:t> pollution data, detects violations, assesses risks, investigates pollution events, and supports regulatory decisions.</a:t>
            </a:r>
            <a:endParaRPr lang="en-IN" sz="1800" dirty="0">
              <a:latin typeface="Arial(body)"/>
            </a:endParaRPr>
          </a:p>
          <a:p>
            <a:r>
              <a:rPr lang="en-IN" sz="1800" dirty="0">
                <a:latin typeface="Arial(body)"/>
              </a:rPr>
              <a:t>Each specialized agent performs a specific role—such as monitoring sensor data, detecting pollution violations, assessing environmental and health risks, investigating pollution sources, generating regulatory alerts, and creating AI-based compliance reports—while working together. This multi-agent approach enables efficient task execution and faster environmental decision-making.</a:t>
            </a:r>
            <a:endParaRPr lang="en-IN" sz="1800" dirty="0">
              <a:latin typeface="Arial(body)"/>
            </a:endParaRPr>
          </a:p>
          <a:p>
            <a:r>
              <a:rPr lang="en-IN" sz="1800" dirty="0">
                <a:latin typeface="Arial(body)"/>
              </a:rPr>
              <a:t>Agentic AI provides context awareness by </a:t>
            </a:r>
            <a:r>
              <a:rPr lang="en-IN" sz="1800" dirty="0" err="1">
                <a:latin typeface="Arial(body)"/>
              </a:rPr>
              <a:t>analyzing</a:t>
            </a:r>
            <a:r>
              <a:rPr lang="en-IN" sz="1800" dirty="0">
                <a:latin typeface="Arial(body)"/>
              </a:rPr>
              <a:t> industry information, sensor readings, pollution levels, historical data, violation records, and risk assessments to generate relevant recommendations.</a:t>
            </a:r>
            <a:endParaRPr lang="en-IN" sz="1800" dirty="0">
              <a:latin typeface="Arial(body)"/>
            </a:endParaRPr>
          </a:p>
          <a:p>
            <a:r>
              <a:rPr lang="en-IN" sz="1800" dirty="0">
                <a:latin typeface="Arial(body)"/>
              </a:rPr>
              <a:t>It also supports real-time adaptation, continuously </a:t>
            </a:r>
            <a:r>
              <a:rPr lang="en-IN" sz="1800" dirty="0" err="1">
                <a:latin typeface="Arial(body)"/>
              </a:rPr>
              <a:t>analyzing</a:t>
            </a:r>
            <a:r>
              <a:rPr lang="en-IN" sz="1800" dirty="0">
                <a:latin typeface="Arial(body)"/>
              </a:rPr>
              <a:t> new air and water sensor readings and responding when pollution levels change from normal to warning, high-risk, or critical conditions.</a:t>
            </a:r>
            <a:endParaRPr lang="en-IN" sz="1800" dirty="0">
              <a:latin typeface="Arial(body)"/>
            </a:endParaRPr>
          </a:p>
          <a:p>
            <a:r>
              <a:rPr lang="en-IN" sz="1800" dirty="0">
                <a:latin typeface="Arial(body)"/>
              </a:rPr>
              <a:t>Additionally, the agents communicate and share information with each other, enabling a complete workflow:</a:t>
            </a:r>
            <a:endParaRPr lang="en-IN" sz="1800" dirty="0">
              <a:latin typeface="Arial(body)"/>
            </a:endParaRPr>
          </a:p>
          <a:p>
            <a:r>
              <a:rPr lang="en-IN" sz="1800" dirty="0">
                <a:latin typeface="Arial(body)"/>
              </a:rPr>
              <a:t>Monitor → Detect → Assess → Investigate → Alert → Report → Act</a:t>
            </a:r>
            <a:endParaRPr lang="en-IN" sz="1800" dirty="0">
              <a:latin typeface="Arial(body)"/>
            </a:endParaRPr>
          </a:p>
          <a:p>
            <a:r>
              <a:rPr lang="en-IN" sz="1800" dirty="0">
                <a:latin typeface="Arial(body)"/>
              </a:rPr>
              <a:t>Overall, Agentic AI makes </a:t>
            </a:r>
            <a:r>
              <a:rPr lang="en-IN" sz="1800" dirty="0" err="1">
                <a:latin typeface="Arial(body)"/>
              </a:rPr>
              <a:t>EcoGuard</a:t>
            </a:r>
            <a:r>
              <a:rPr lang="en-IN" sz="1800" dirty="0">
                <a:latin typeface="Arial(body)"/>
              </a:rPr>
              <a:t> AI proactive, intelligent, automated, and goal-driven, acting as a smart environmental monitoring and compliance assistant that helps industries and regulatory authorities detect pollution faster, assess risks, and take timely action.</a:t>
            </a:r>
            <a:endParaRPr lang="en-IN" sz="1800" dirty="0">
              <a:latin typeface="Arial(body)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3" name="Picture 1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reeform: Shap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dirty="0">
                <a:latin typeface="Arial(heading)"/>
              </a:rPr>
              <a:t>9</a:t>
            </a:r>
            <a:r>
              <a:rPr lang="en-US" sz="6600" b="1" i="0" kern="1200" dirty="0">
                <a:solidFill>
                  <a:schemeClr val="tx2"/>
                </a:solidFill>
                <a:latin typeface="Arial(heading)"/>
              </a:rPr>
              <a:t>.Novelty and Uniqueness</a:t>
            </a:r>
            <a:endParaRPr lang="en-US" sz="6600" b="1" i="0" kern="1200" dirty="0">
              <a:solidFill>
                <a:schemeClr val="tx2"/>
              </a:solidFill>
              <a:latin typeface="Arial(heading)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6817"/>
          </a:xfrm>
        </p:spPr>
        <p:txBody>
          <a:bodyPr/>
          <a:lstStyle/>
          <a:p>
            <a:r>
              <a:rPr lang="en-US" sz="2800" b="1" dirty="0">
                <a:latin typeface="Arial(heading)"/>
              </a:rPr>
              <a:t>Novelty and Uniqueness</a:t>
            </a:r>
            <a:br>
              <a:rPr lang="en-IN" sz="2800" b="1" dirty="0">
                <a:latin typeface="Arial(heading)"/>
              </a:rPr>
            </a:br>
            <a:endParaRPr lang="en-IN" sz="2800" dirty="0">
              <a:latin typeface="Arial(heading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130" y="1199535"/>
            <a:ext cx="10789786" cy="5205747"/>
          </a:xfrm>
        </p:spPr>
        <p:txBody>
          <a:bodyPr>
            <a:normAutofit/>
          </a:bodyPr>
          <a:lstStyle/>
          <a:p>
            <a:r>
              <a:rPr lang="en-IN" dirty="0" err="1">
                <a:latin typeface="Arial(body)"/>
              </a:rPr>
              <a:t>EcoGuard</a:t>
            </a:r>
            <a:r>
              <a:rPr lang="en-IN" dirty="0">
                <a:latin typeface="Arial(body)"/>
              </a:rPr>
              <a:t> AI is unique because it combines </a:t>
            </a:r>
            <a:r>
              <a:rPr lang="en-IN" b="1" dirty="0">
                <a:latin typeface="Arial(body)"/>
              </a:rPr>
              <a:t>real-time monitoring, environmental compliance and Agentic AI</a:t>
            </a:r>
            <a:r>
              <a:rPr lang="en-IN" dirty="0">
                <a:latin typeface="Arial(body)"/>
              </a:rPr>
              <a:t> in a single platform.</a:t>
            </a:r>
            <a:endParaRPr lang="en-IN" dirty="0">
              <a:latin typeface="Arial(body)"/>
            </a:endParaRPr>
          </a:p>
          <a:p>
            <a:pPr lvl="0"/>
            <a:r>
              <a:rPr lang="en-IN" b="1" dirty="0">
                <a:latin typeface="Arial(body)"/>
              </a:rPr>
              <a:t>Multi-Agent Intelligence</a:t>
            </a:r>
            <a:r>
              <a:rPr lang="en-IN" dirty="0">
                <a:latin typeface="Arial(body)"/>
              </a:rPr>
              <a:t> – Specialized AI agents handle monitoring, violations, risks, investigation, and reports. </a:t>
            </a:r>
            <a:endParaRPr lang="en-IN" dirty="0">
              <a:latin typeface="Arial(body)"/>
            </a:endParaRPr>
          </a:p>
          <a:p>
            <a:pPr lvl="0"/>
            <a:r>
              <a:rPr lang="en-IN" b="1" dirty="0">
                <a:latin typeface="Arial(body)"/>
              </a:rPr>
              <a:t>Air + Water Monitoring</a:t>
            </a:r>
            <a:r>
              <a:rPr lang="en-IN" dirty="0">
                <a:latin typeface="Arial(body)"/>
              </a:rPr>
              <a:t> – Monitors both industrial air pollution and water effluents. </a:t>
            </a:r>
            <a:endParaRPr lang="en-IN" dirty="0">
              <a:latin typeface="Arial(body)"/>
            </a:endParaRPr>
          </a:p>
          <a:p>
            <a:pPr lvl="0"/>
            <a:r>
              <a:rPr lang="en-IN" b="1" dirty="0">
                <a:latin typeface="Arial(body)"/>
              </a:rPr>
              <a:t>Automatic Violation Detection</a:t>
            </a:r>
            <a:r>
              <a:rPr lang="en-IN" dirty="0">
                <a:latin typeface="Arial(body)"/>
              </a:rPr>
              <a:t> – Detects pollution levels exceeding configured limits. </a:t>
            </a:r>
            <a:endParaRPr lang="en-IN" dirty="0">
              <a:latin typeface="Arial(body)"/>
            </a:endParaRPr>
          </a:p>
          <a:p>
            <a:pPr lvl="0"/>
            <a:r>
              <a:rPr lang="en-IN" b="1" dirty="0">
                <a:latin typeface="Arial(body)"/>
              </a:rPr>
              <a:t>AI Investigation</a:t>
            </a:r>
            <a:r>
              <a:rPr lang="en-IN" dirty="0">
                <a:latin typeface="Arial(body)"/>
              </a:rPr>
              <a:t> – </a:t>
            </a:r>
            <a:r>
              <a:rPr lang="en-IN" dirty="0" err="1">
                <a:latin typeface="Arial(body)"/>
              </a:rPr>
              <a:t>Analyzes</a:t>
            </a:r>
            <a:r>
              <a:rPr lang="en-IN" dirty="0">
                <a:latin typeface="Arial(body)"/>
              </a:rPr>
              <a:t> pollution spikes and historical data to identify possible causes. </a:t>
            </a:r>
            <a:endParaRPr lang="en-IN" dirty="0">
              <a:latin typeface="Arial(body)"/>
            </a:endParaRPr>
          </a:p>
          <a:p>
            <a:pPr lvl="0"/>
            <a:r>
              <a:rPr lang="en-IN" b="1" dirty="0">
                <a:latin typeface="Arial(body)"/>
              </a:rPr>
              <a:t>Public Health Risk</a:t>
            </a:r>
            <a:r>
              <a:rPr lang="en-IN" dirty="0">
                <a:latin typeface="Arial(body)"/>
              </a:rPr>
              <a:t> – Assesses potential environmental and public-health impacts. </a:t>
            </a:r>
            <a:endParaRPr lang="en-IN" dirty="0">
              <a:latin typeface="Arial(body)"/>
            </a:endParaRPr>
          </a:p>
          <a:p>
            <a:pPr lvl="0"/>
            <a:r>
              <a:rPr lang="en-IN" b="1" dirty="0">
                <a:latin typeface="Arial(body)"/>
              </a:rPr>
              <a:t>AI Compliance Reports</a:t>
            </a:r>
            <a:r>
              <a:rPr lang="en-IN" dirty="0">
                <a:latin typeface="Arial(body)"/>
              </a:rPr>
              <a:t> – IBM Granite generates automated compliance reports. </a:t>
            </a:r>
            <a:endParaRPr lang="en-IN" dirty="0">
              <a:latin typeface="Arial(body)"/>
            </a:endParaRPr>
          </a:p>
          <a:p>
            <a:pPr lvl="0"/>
            <a:r>
              <a:rPr lang="en-IN" b="1" dirty="0">
                <a:latin typeface="Arial(body)"/>
              </a:rPr>
              <a:t>Natural Language Interface</a:t>
            </a:r>
            <a:r>
              <a:rPr lang="en-IN" dirty="0">
                <a:latin typeface="Arial(body)"/>
              </a:rPr>
              <a:t> – Users can ask pollution-related questions and get AI answers. </a:t>
            </a:r>
            <a:endParaRPr lang="en-IN" dirty="0">
              <a:latin typeface="Arial(body)"/>
            </a:endParaRPr>
          </a:p>
          <a:p>
            <a:pPr lvl="0"/>
            <a:r>
              <a:rPr lang="en-IN" b="1" dirty="0">
                <a:latin typeface="Arial(body)"/>
              </a:rPr>
              <a:t>Agent Monitoring</a:t>
            </a:r>
            <a:r>
              <a:rPr lang="en-IN" dirty="0">
                <a:latin typeface="Arial(body)"/>
              </a:rPr>
              <a:t> – Displays agent status, activities, and execution. </a:t>
            </a:r>
            <a:endParaRPr lang="en-IN" dirty="0">
              <a:latin typeface="Arial(body)"/>
            </a:endParaRPr>
          </a:p>
          <a:p>
            <a:pPr lvl="0"/>
            <a:r>
              <a:rPr lang="en-IN" b="1" dirty="0">
                <a:latin typeface="Arial(body)"/>
              </a:rPr>
              <a:t>Real-Time Simulation</a:t>
            </a:r>
            <a:r>
              <a:rPr lang="en-IN" dirty="0">
                <a:latin typeface="Arial(body)"/>
              </a:rPr>
              <a:t> – Continuously generates sensor data and pollution scenarios.</a:t>
            </a:r>
            <a:endParaRPr lang="en-IN" dirty="0">
              <a:latin typeface="Arial(body)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3" name="Picture 1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447800"/>
            <a:ext cx="6974915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i="0" kern="1200" dirty="0">
                <a:solidFill>
                  <a:schemeClr val="tx2"/>
                </a:solidFill>
                <a:latin typeface="Arial(heading)"/>
              </a:rPr>
              <a:t>10. Six Agentic AI Agents </a:t>
            </a:r>
            <a:endParaRPr lang="en-US" sz="6600" b="1" i="0" kern="1200" dirty="0">
              <a:solidFill>
                <a:schemeClr val="tx2"/>
              </a:solidFill>
              <a:latin typeface="Arial(heading)"/>
            </a:endParaRPr>
          </a:p>
        </p:txBody>
      </p:sp>
      <p:sp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01762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rial(heading)"/>
              </a:rPr>
              <a:t>Six Agentic AI Agents </a:t>
            </a:r>
            <a:endParaRPr lang="en-IN" sz="2800" b="1" dirty="0">
              <a:latin typeface="Arial(heading)"/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646110" y="1356360"/>
          <a:ext cx="10250489" cy="4927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4" name="Picture 13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4" name="Picture 3" descr="Speedometer"/>
          <p:cNvPicPr>
            <a:picLocks noChangeAspect="1"/>
          </p:cNvPicPr>
          <p:nvPr/>
        </p:nvPicPr>
        <p:blipFill>
          <a:blip r:embed="rId6">
            <a:alphaModFix amt="25000"/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t="96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600" b="1" dirty="0">
                <a:latin typeface="Arial(heading)"/>
              </a:rPr>
              <a:t>11.Dashboard Demonstration Flow</a:t>
            </a:r>
            <a:endParaRPr lang="en-US" sz="6600" b="1" dirty="0">
              <a:latin typeface="Arial(heading)"/>
            </a:endParaRPr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ctr"/>
            <a:br>
              <a:rPr lang="en-US" sz="3600" b="1" dirty="0">
                <a:solidFill>
                  <a:schemeClr val="tx1"/>
                </a:solidFill>
                <a:latin typeface="Arial(heading)"/>
              </a:rPr>
            </a:br>
            <a:br>
              <a:rPr lang="en-US" sz="3600" b="1" dirty="0">
                <a:solidFill>
                  <a:schemeClr val="tx1"/>
                </a:solidFill>
                <a:latin typeface="Arial(heading)"/>
              </a:rPr>
            </a:br>
            <a:r>
              <a:rPr lang="en-US" sz="3600" b="1" dirty="0">
                <a:solidFill>
                  <a:schemeClr val="tx1"/>
                </a:solidFill>
                <a:latin typeface="Arial(heading)"/>
              </a:rPr>
              <a:t>Dashboard Demonstration Flow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9164" y="1645920"/>
            <a:ext cx="6294448" cy="44708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300" b="1" dirty="0">
                <a:latin typeface="Arial(body)"/>
              </a:rPr>
              <a:t>Login → Dashboard → Live Monitoring → Air &amp; Water Quality → Violation Detection → Agent Monitoring → AI Reports → Health Risk → Regulatory Alert</a:t>
            </a:r>
            <a:endParaRPr lang="en-IN" sz="1300" dirty="0">
              <a:latin typeface="Arial(body)"/>
            </a:endParaRPr>
          </a:p>
          <a:p>
            <a:pPr lvl="0">
              <a:lnSpc>
                <a:spcPct val="90000"/>
              </a:lnSpc>
            </a:pPr>
            <a:r>
              <a:rPr lang="en-IN" sz="1300" dirty="0">
                <a:latin typeface="Arial(body)"/>
              </a:rPr>
              <a:t>🔐 </a:t>
            </a:r>
            <a:r>
              <a:rPr lang="en-IN" sz="1300" b="1" dirty="0">
                <a:latin typeface="Arial(body)"/>
              </a:rPr>
              <a:t>Login:</a:t>
            </a:r>
            <a:r>
              <a:rPr lang="en-IN" sz="1300" dirty="0">
                <a:latin typeface="Arial(body)"/>
              </a:rPr>
              <a:t> Secure user access </a:t>
            </a:r>
            <a:endParaRPr lang="en-IN" sz="1300" dirty="0">
              <a:latin typeface="Arial(body)"/>
            </a:endParaRPr>
          </a:p>
          <a:p>
            <a:pPr lvl="0">
              <a:lnSpc>
                <a:spcPct val="90000"/>
              </a:lnSpc>
            </a:pPr>
            <a:r>
              <a:rPr lang="en-IN" sz="1300" dirty="0">
                <a:latin typeface="Arial(body)"/>
              </a:rPr>
              <a:t>📊 </a:t>
            </a:r>
            <a:r>
              <a:rPr lang="en-IN" sz="1300" b="1" dirty="0">
                <a:latin typeface="Arial(body)"/>
              </a:rPr>
              <a:t>Dashboard:</a:t>
            </a:r>
            <a:r>
              <a:rPr lang="en-IN" sz="1300" dirty="0">
                <a:latin typeface="Arial(body)"/>
              </a:rPr>
              <a:t> Industries, sensors, violations, alerts &amp; risk levels </a:t>
            </a:r>
            <a:endParaRPr lang="en-IN" sz="1300" dirty="0">
              <a:latin typeface="Arial(body)"/>
            </a:endParaRPr>
          </a:p>
          <a:p>
            <a:pPr lvl="0">
              <a:lnSpc>
                <a:spcPct val="90000"/>
              </a:lnSpc>
            </a:pPr>
            <a:r>
              <a:rPr lang="en-IN" sz="1300" dirty="0">
                <a:latin typeface="Arial(body)"/>
              </a:rPr>
              <a:t>📡 </a:t>
            </a:r>
            <a:r>
              <a:rPr lang="en-IN" sz="1300" b="1" dirty="0">
                <a:latin typeface="Arial(body)"/>
              </a:rPr>
              <a:t>Live Monitoring:</a:t>
            </a:r>
            <a:r>
              <a:rPr lang="en-IN" sz="1300" dirty="0">
                <a:latin typeface="Arial(body)"/>
              </a:rPr>
              <a:t> Real-time sensor readings </a:t>
            </a:r>
            <a:endParaRPr lang="en-IN" sz="1300" dirty="0">
              <a:latin typeface="Arial(body)"/>
            </a:endParaRPr>
          </a:p>
          <a:p>
            <a:pPr lvl="0">
              <a:lnSpc>
                <a:spcPct val="90000"/>
              </a:lnSpc>
            </a:pPr>
            <a:r>
              <a:rPr lang="en-IN" sz="1300" dirty="0">
                <a:latin typeface="Arial(body)"/>
              </a:rPr>
              <a:t>🌬️💧 </a:t>
            </a:r>
            <a:r>
              <a:rPr lang="en-IN" sz="1300" b="1" dirty="0">
                <a:latin typeface="Arial(body)"/>
              </a:rPr>
              <a:t>Air &amp; Water Quality:</a:t>
            </a:r>
            <a:r>
              <a:rPr lang="en-IN" sz="1300" dirty="0">
                <a:latin typeface="Arial(body)"/>
              </a:rPr>
              <a:t> PM2.5, PM10, SO₂, NO₂, CO, AQI, pH, COD, BOD, TDS, etc. </a:t>
            </a:r>
            <a:endParaRPr lang="en-IN" sz="1300" dirty="0">
              <a:latin typeface="Arial(body)"/>
            </a:endParaRPr>
          </a:p>
          <a:p>
            <a:pPr lvl="0">
              <a:lnSpc>
                <a:spcPct val="90000"/>
              </a:lnSpc>
            </a:pPr>
            <a:r>
              <a:rPr lang="en-IN" sz="1300" dirty="0">
                <a:latin typeface="Arial(body)"/>
              </a:rPr>
              <a:t>⚠️ </a:t>
            </a:r>
            <a:r>
              <a:rPr lang="en-IN" sz="1300" b="1" dirty="0">
                <a:latin typeface="Arial(body)"/>
              </a:rPr>
              <a:t>Violation:</a:t>
            </a:r>
            <a:r>
              <a:rPr lang="en-IN" sz="1300" dirty="0">
                <a:latin typeface="Arial(body)"/>
              </a:rPr>
              <a:t> Threshold exceeded → Violation detected → Severity assigned </a:t>
            </a:r>
            <a:endParaRPr lang="en-IN" sz="1300" dirty="0">
              <a:latin typeface="Arial(body)"/>
            </a:endParaRPr>
          </a:p>
          <a:p>
            <a:pPr lvl="0">
              <a:lnSpc>
                <a:spcPct val="90000"/>
              </a:lnSpc>
            </a:pPr>
            <a:r>
              <a:rPr lang="en-IN" sz="1300" dirty="0">
                <a:latin typeface="Arial(body)"/>
              </a:rPr>
              <a:t>🤖 </a:t>
            </a:r>
            <a:r>
              <a:rPr lang="en-IN" sz="1300" b="1" dirty="0">
                <a:latin typeface="Arial(body)"/>
              </a:rPr>
              <a:t>Agent Monitoring:</a:t>
            </a:r>
            <a:r>
              <a:rPr lang="en-IN" sz="1300" dirty="0">
                <a:latin typeface="Arial(body)"/>
              </a:rPr>
              <a:t> View all six AI agents and their activities </a:t>
            </a:r>
            <a:endParaRPr lang="en-IN" sz="1300" dirty="0">
              <a:latin typeface="Arial(body)"/>
            </a:endParaRPr>
          </a:p>
          <a:p>
            <a:pPr lvl="0">
              <a:lnSpc>
                <a:spcPct val="90000"/>
              </a:lnSpc>
            </a:pPr>
            <a:r>
              <a:rPr lang="en-IN" sz="1300" dirty="0">
                <a:latin typeface="Arial(body)"/>
              </a:rPr>
              <a:t>🧠 </a:t>
            </a:r>
            <a:r>
              <a:rPr lang="en-IN" sz="1300" b="1" dirty="0">
                <a:latin typeface="Arial(body)"/>
              </a:rPr>
              <a:t>AI Reports:</a:t>
            </a:r>
            <a:r>
              <a:rPr lang="en-IN" sz="1300" dirty="0">
                <a:latin typeface="Arial(body)"/>
              </a:rPr>
              <a:t> Ask questions &amp; generate compliance reports using IBM Granite </a:t>
            </a:r>
            <a:endParaRPr lang="en-IN" sz="1300" dirty="0">
              <a:latin typeface="Arial(body)"/>
            </a:endParaRPr>
          </a:p>
          <a:p>
            <a:pPr lvl="0">
              <a:lnSpc>
                <a:spcPct val="90000"/>
              </a:lnSpc>
            </a:pPr>
            <a:r>
              <a:rPr lang="en-IN" sz="1300" dirty="0">
                <a:latin typeface="Arial(body)"/>
              </a:rPr>
              <a:t>🏥 </a:t>
            </a:r>
            <a:r>
              <a:rPr lang="en-IN" sz="1300" b="1" dirty="0">
                <a:latin typeface="Arial(body)"/>
              </a:rPr>
              <a:t>Health Risk:</a:t>
            </a:r>
            <a:r>
              <a:rPr lang="en-IN" sz="1300" dirty="0">
                <a:latin typeface="Arial(body)"/>
              </a:rPr>
              <a:t> Assess potential public-health impact </a:t>
            </a:r>
            <a:endParaRPr lang="en-IN" sz="1300" dirty="0">
              <a:latin typeface="Arial(body)"/>
            </a:endParaRPr>
          </a:p>
          <a:p>
            <a:pPr lvl="0">
              <a:lnSpc>
                <a:spcPct val="90000"/>
              </a:lnSpc>
            </a:pPr>
            <a:r>
              <a:rPr lang="en-IN" sz="1300" dirty="0">
                <a:latin typeface="Arial(body)"/>
              </a:rPr>
              <a:t>🚨 </a:t>
            </a:r>
            <a:r>
              <a:rPr lang="en-IN" sz="1300" b="1" dirty="0">
                <a:latin typeface="Arial(body)"/>
              </a:rPr>
              <a:t>Regulatory Action:</a:t>
            </a:r>
            <a:r>
              <a:rPr lang="en-IN" sz="1300" dirty="0">
                <a:latin typeface="Arial(body)"/>
              </a:rPr>
              <a:t> Alerts and escalation for critical violations </a:t>
            </a:r>
            <a:endParaRPr lang="en-IN" sz="1300" dirty="0">
              <a:latin typeface="Arial(body)"/>
            </a:endParaRPr>
          </a:p>
          <a:p>
            <a:pPr>
              <a:lnSpc>
                <a:spcPct val="90000"/>
              </a:lnSpc>
            </a:pPr>
            <a:r>
              <a:rPr lang="en-IN" sz="1300" b="1" dirty="0">
                <a:latin typeface="Arial(body)"/>
              </a:rPr>
              <a:t>One-line presentation:</a:t>
            </a:r>
            <a:br>
              <a:rPr lang="en-IN" sz="1300" dirty="0">
                <a:latin typeface="Arial(body)"/>
              </a:rPr>
            </a:br>
            <a:r>
              <a:rPr lang="en-IN" sz="1300" b="1" dirty="0">
                <a:latin typeface="Arial(body)"/>
              </a:rPr>
              <a:t>Monitor → Detect → </a:t>
            </a:r>
            <a:r>
              <a:rPr lang="en-IN" sz="1300" b="1" dirty="0" err="1">
                <a:latin typeface="Arial(body)"/>
              </a:rPr>
              <a:t>Analyze</a:t>
            </a:r>
            <a:r>
              <a:rPr lang="en-IN" sz="1300" b="1" dirty="0">
                <a:latin typeface="Arial(body)"/>
              </a:rPr>
              <a:t> → Assess Risk → Alert → Report → Take Action</a:t>
            </a:r>
            <a:endParaRPr lang="en-IN" sz="1300" dirty="0">
              <a:latin typeface="Arial(body)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72959"/>
          </a:xfrm>
        </p:spPr>
        <p:txBody>
          <a:bodyPr/>
          <a:lstStyle/>
          <a:p>
            <a:r>
              <a:rPr lang="en-US" sz="2800" b="1" dirty="0">
                <a:latin typeface="Arial(heading)"/>
                <a:sym typeface="Times New Roman" panose="02020603050405020304"/>
              </a:rPr>
              <a:t>12. Git Hub Link</a:t>
            </a:r>
            <a:endParaRPr lang="en-IN" sz="2800" dirty="0">
              <a:latin typeface="Arial(heading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0" y="1150374"/>
            <a:ext cx="10542999" cy="5417574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Arial (Body)"/>
                <a:hlinkClick r:id="rId1" action="ppaction://hlinkfile"/>
              </a:rPr>
              <a:t>https://github.com/bansaripadia2705-source/Smart-Industrial-Pollution-Monitoring</a:t>
            </a:r>
            <a:endParaRPr lang="en-US" altLang="en-US" dirty="0">
              <a:latin typeface="Arial (Body)"/>
            </a:endParaRPr>
          </a:p>
          <a:p>
            <a:r>
              <a:rPr lang="en-IN" sz="1200" dirty="0">
                <a:latin typeface="Arial (Body)"/>
              </a:rPr>
              <a:t>🌿 </a:t>
            </a:r>
            <a:r>
              <a:rPr lang="en-IN" sz="1200" dirty="0" err="1">
                <a:latin typeface="Arial (Body)"/>
              </a:rPr>
              <a:t>EcoGuard</a:t>
            </a:r>
            <a:r>
              <a:rPr lang="en-IN" sz="1200" dirty="0">
                <a:latin typeface="Arial (Body)"/>
              </a:rPr>
              <a:t> AI – Smart Industrial Pollution Monitoring</a:t>
            </a:r>
            <a:endParaRPr lang="en-IN" sz="1200" dirty="0">
              <a:latin typeface="Arial (Body)"/>
            </a:endParaRPr>
          </a:p>
          <a:p>
            <a:r>
              <a:rPr lang="en-IN" sz="1200" dirty="0">
                <a:latin typeface="Arial (Body)"/>
              </a:rPr>
              <a:t>IBM Agentic AI Hackathon · Challenge 9</a:t>
            </a:r>
            <a:br>
              <a:rPr lang="en-IN" sz="1200" dirty="0">
                <a:latin typeface="Arial (Body)"/>
              </a:rPr>
            </a:br>
            <a:r>
              <a:rPr lang="en-IN" sz="1200" i="1" dirty="0">
                <a:latin typeface="Arial (Body)"/>
              </a:rPr>
              <a:t>Golden Corridor: Vapi–</a:t>
            </a:r>
            <a:r>
              <a:rPr lang="en-IN" sz="1200" i="1" dirty="0" err="1">
                <a:latin typeface="Arial (Body)"/>
              </a:rPr>
              <a:t>Ankleshwar</a:t>
            </a:r>
            <a:r>
              <a:rPr lang="en-IN" sz="1200" i="1" dirty="0">
                <a:latin typeface="Arial (Body)"/>
              </a:rPr>
              <a:t>–</a:t>
            </a:r>
            <a:r>
              <a:rPr lang="en-IN" sz="1200" i="1" dirty="0" err="1">
                <a:latin typeface="Arial (Body)"/>
              </a:rPr>
              <a:t>Vatva</a:t>
            </a:r>
            <a:endParaRPr lang="en-IN" sz="1200" dirty="0">
              <a:latin typeface="Arial (Body)"/>
            </a:endParaRPr>
          </a:p>
          <a:p>
            <a:r>
              <a:rPr lang="en-IN" sz="1200" dirty="0" err="1">
                <a:latin typeface="Arial (Body)"/>
              </a:rPr>
              <a:t>EcoGuard</a:t>
            </a:r>
            <a:r>
              <a:rPr lang="en-IN" sz="1200" dirty="0">
                <a:latin typeface="Arial (Body)"/>
              </a:rPr>
              <a:t> AI is an Agentic AI-powered platform that continuously monitors industrial air &amp; water pollution, detects violations, assesses risks, investigates pollution events, and generates regulatory alerts and AI reports.</a:t>
            </a:r>
            <a:endParaRPr lang="en-IN" sz="1200" dirty="0">
              <a:latin typeface="Arial (Body)"/>
            </a:endParaRPr>
          </a:p>
          <a:p>
            <a:r>
              <a:rPr lang="en-IN" sz="1200" dirty="0">
                <a:latin typeface="Arial (Body)"/>
              </a:rPr>
              <a:t>🤖 AI Agents</a:t>
            </a:r>
            <a:endParaRPr lang="en-IN" sz="1200" dirty="0">
              <a:latin typeface="Arial (Body)"/>
            </a:endParaRPr>
          </a:p>
          <a:p>
            <a:pPr lvl="0"/>
            <a:r>
              <a:rPr lang="en-IN" sz="1200" dirty="0">
                <a:latin typeface="Arial (Body)"/>
              </a:rPr>
              <a:t>🔬 Monitoring Agent </a:t>
            </a:r>
            <a:endParaRPr lang="en-IN" sz="1200" dirty="0">
              <a:latin typeface="Arial (Body)"/>
            </a:endParaRPr>
          </a:p>
          <a:p>
            <a:pPr lvl="0"/>
            <a:r>
              <a:rPr lang="en-IN" sz="1200" dirty="0">
                <a:latin typeface="Arial (Body)"/>
              </a:rPr>
              <a:t>⚠️ Violation Detection Agent </a:t>
            </a:r>
            <a:endParaRPr lang="en-IN" sz="1200" dirty="0">
              <a:latin typeface="Arial (Body)"/>
            </a:endParaRPr>
          </a:p>
          <a:p>
            <a:pPr lvl="0"/>
            <a:r>
              <a:rPr lang="en-IN" sz="1200" dirty="0">
                <a:latin typeface="Arial (Body)"/>
              </a:rPr>
              <a:t>📋 Regulatory Alert Agent </a:t>
            </a:r>
            <a:endParaRPr lang="en-IN" sz="1200" dirty="0">
              <a:latin typeface="Arial (Body)"/>
            </a:endParaRPr>
          </a:p>
          <a:p>
            <a:pPr lvl="0"/>
            <a:r>
              <a:rPr lang="en-IN" sz="1200" dirty="0">
                <a:latin typeface="Arial (Body)"/>
              </a:rPr>
              <a:t>🏥 Health Risk Agent </a:t>
            </a:r>
            <a:endParaRPr lang="en-IN" sz="1200" dirty="0">
              <a:latin typeface="Arial (Body)"/>
            </a:endParaRPr>
          </a:p>
          <a:p>
            <a:pPr lvl="0"/>
            <a:r>
              <a:rPr lang="en-IN" sz="1200" dirty="0">
                <a:latin typeface="Arial (Body)"/>
              </a:rPr>
              <a:t>🔍 Investigation Agent </a:t>
            </a:r>
            <a:endParaRPr lang="en-IN" sz="1200" dirty="0">
              <a:latin typeface="Arial (Body)"/>
            </a:endParaRPr>
          </a:p>
          <a:p>
            <a:pPr lvl="0"/>
            <a:r>
              <a:rPr lang="en-IN" sz="1200" dirty="0">
                <a:latin typeface="Arial (Body)"/>
              </a:rPr>
              <a:t>📊 Dashboard Agent </a:t>
            </a:r>
            <a:endParaRPr lang="en-IN" sz="1200" dirty="0">
              <a:latin typeface="Arial (Body)"/>
            </a:endParaRPr>
          </a:p>
          <a:p>
            <a:r>
              <a:rPr lang="en-IN" sz="1200" dirty="0">
                <a:latin typeface="Arial (Body)"/>
              </a:rPr>
              <a:t>💻 Technology</a:t>
            </a:r>
            <a:endParaRPr lang="en-IN" sz="1200" dirty="0">
              <a:latin typeface="Arial (Body)"/>
            </a:endParaRPr>
          </a:p>
          <a:p>
            <a:r>
              <a:rPr lang="en-IN" sz="1200" dirty="0">
                <a:latin typeface="Arial (Body)"/>
              </a:rPr>
              <a:t>React.js • Node.js • Express.js • </a:t>
            </a:r>
            <a:r>
              <a:rPr lang="en-IN" sz="1200" dirty="0" err="1">
                <a:latin typeface="Arial (Body)"/>
              </a:rPr>
              <a:t>NeDB</a:t>
            </a:r>
            <a:r>
              <a:rPr lang="en-IN" sz="1200" dirty="0">
                <a:latin typeface="Arial (Body)"/>
              </a:rPr>
              <a:t> • Chart.js • IBM watsonx.ai • IBM Granite</a:t>
            </a:r>
            <a:endParaRPr lang="en-IN" sz="1200" dirty="0">
              <a:latin typeface="Arial (Body)"/>
            </a:endParaRPr>
          </a:p>
          <a:p>
            <a:r>
              <a:rPr lang="en-IN" sz="1200" dirty="0">
                <a:latin typeface="Arial (Body)"/>
              </a:rPr>
              <a:t>📊 Key Features</a:t>
            </a:r>
            <a:endParaRPr lang="en-IN" sz="1200" dirty="0">
              <a:latin typeface="Arial (Body)"/>
            </a:endParaRPr>
          </a:p>
          <a:p>
            <a:r>
              <a:rPr lang="en-IN" sz="1200" dirty="0">
                <a:latin typeface="Arial (Body)"/>
              </a:rPr>
              <a:t>Real-time Monitoring • Automatic Violation Detection • Risk Assessment • AI Investigation • Regulatory Alerts • AI Reports • Multilingual Dashboard</a:t>
            </a:r>
            <a:endParaRPr lang="en-IN" sz="1200" dirty="0">
              <a:latin typeface="Arial (Body)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(heading)"/>
              </a:rPr>
              <a:t>13. “</a:t>
            </a:r>
            <a:r>
              <a:rPr lang="en-US" b="1" dirty="0" err="1">
                <a:latin typeface="Arial(heading)"/>
              </a:rPr>
              <a:t>EcoGuard</a:t>
            </a:r>
            <a:r>
              <a:rPr lang="en-US" b="1" dirty="0">
                <a:latin typeface="Arial(heading)"/>
              </a:rPr>
              <a:t> AI – Project Demonstration &amp; UI”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3609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t="4062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4062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3609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4062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r="1" b="4063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r="1" b="4063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4062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r="1" b="361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3609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4062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4062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3609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3609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2613" r="1" b="998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3609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2948" r="1" b="662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2691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3609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r="1" b="361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1756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4062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3609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3609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r="1" b="4063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4062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4062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2083" r="1" b="1527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3609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4062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4062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4062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4062" r="1" b="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r="1" b="3611"/>
          <a:stretch>
            <a:fillRect/>
          </a:stretch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4" name="Picture 13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4" name="Picture 3" descr="Computer 3D windows background"/>
          <p:cNvPicPr>
            <a:picLocks noChangeAspect="1"/>
          </p:cNvPicPr>
          <p:nvPr/>
        </p:nvPicPr>
        <p:blipFill>
          <a:blip r:embed="rId6">
            <a:alphaModFix amt="25000"/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dirty="0">
                <a:latin typeface="Arial(heading)"/>
              </a:rPr>
              <a:t>14. Future Scope</a:t>
            </a:r>
            <a:endParaRPr lang="en-US" sz="6600" b="1" dirty="0">
              <a:latin typeface="Arial(heading)"/>
            </a:endParaRPr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2" y="1143000"/>
            <a:ext cx="3522879" cy="2025445"/>
          </a:xfrm>
        </p:spPr>
        <p:txBody>
          <a:bodyPr>
            <a:normAutofit/>
          </a:bodyPr>
          <a:lstStyle/>
          <a:p>
            <a:br>
              <a:rPr lang="en-US" b="1" dirty="0">
                <a:solidFill>
                  <a:schemeClr val="tx1"/>
                </a:solidFill>
                <a:latin typeface="Arial(heading)"/>
              </a:rPr>
            </a:br>
            <a:r>
              <a:rPr lang="en-US" b="1" dirty="0">
                <a:solidFill>
                  <a:schemeClr val="tx1"/>
                </a:solidFill>
                <a:latin typeface="Arial(heading)"/>
              </a:rPr>
              <a:t>Future Scope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1962" y="1143000"/>
            <a:ext cx="8284272" cy="5599444"/>
          </a:xfrm>
        </p:spPr>
        <p:txBody>
          <a:bodyPr>
            <a:normAutofit fontScale="92500" lnSpcReduction="10000"/>
          </a:bodyPr>
          <a:lstStyle/>
          <a:p>
            <a:pPr lvl="0" algn="just">
              <a:lnSpc>
                <a:spcPct val="90000"/>
              </a:lnSpc>
            </a:pPr>
            <a:r>
              <a:rPr lang="en-IN" sz="1600" b="1" dirty="0">
                <a:latin typeface="Arial(body)"/>
              </a:rPr>
              <a:t>Real IoT Sensors</a:t>
            </a:r>
            <a:r>
              <a:rPr lang="en-IN" sz="1600" dirty="0">
                <a:latin typeface="Arial(body)"/>
              </a:rPr>
              <a:t> – Integrate real-time air, water, and industrial emission sensors to continuously collect accurate environmental data and reduce dependency on simulated readings. </a:t>
            </a:r>
            <a:endParaRPr lang="en-IN" sz="1600" dirty="0">
              <a:latin typeface="Arial(body)"/>
            </a:endParaRPr>
          </a:p>
          <a:p>
            <a:pPr lvl="0" algn="just">
              <a:lnSpc>
                <a:spcPct val="90000"/>
              </a:lnSpc>
            </a:pPr>
            <a:r>
              <a:rPr lang="en-IN" sz="1600" b="1" dirty="0">
                <a:latin typeface="Arial(body)"/>
              </a:rPr>
              <a:t>Satellite Integration</a:t>
            </a:r>
            <a:r>
              <a:rPr lang="en-IN" sz="1600" dirty="0">
                <a:latin typeface="Arial(body)"/>
              </a:rPr>
              <a:t> – Use satellite imagery to identify pollution patterns, industrial expansion, vegetation stress, and environmental changes over large areas. </a:t>
            </a:r>
            <a:endParaRPr lang="en-IN" sz="1600" dirty="0">
              <a:latin typeface="Arial(body)"/>
            </a:endParaRPr>
          </a:p>
          <a:p>
            <a:pPr lvl="0" algn="just">
              <a:lnSpc>
                <a:spcPct val="90000"/>
              </a:lnSpc>
            </a:pPr>
            <a:r>
              <a:rPr lang="en-IN" sz="1600" b="1" dirty="0">
                <a:latin typeface="Arial(body)"/>
              </a:rPr>
              <a:t>Pollution Prediction</a:t>
            </a:r>
            <a:r>
              <a:rPr lang="en-IN" sz="1600" dirty="0">
                <a:latin typeface="Arial(body)"/>
              </a:rPr>
              <a:t> – Apply machine learning to historical and real-time data to forecast future pollution levels and provide early warnings before conditions become critical. </a:t>
            </a:r>
            <a:endParaRPr lang="en-IN" sz="1600" dirty="0">
              <a:latin typeface="Arial(body)"/>
            </a:endParaRPr>
          </a:p>
          <a:p>
            <a:pPr lvl="0" algn="just">
              <a:lnSpc>
                <a:spcPct val="90000"/>
              </a:lnSpc>
            </a:pPr>
            <a:r>
              <a:rPr lang="en-IN" sz="1600" b="1" dirty="0">
                <a:latin typeface="Arial(body)"/>
              </a:rPr>
              <a:t>Digital Twin</a:t>
            </a:r>
            <a:r>
              <a:rPr lang="en-IN" sz="1600" dirty="0">
                <a:latin typeface="Arial(body)"/>
              </a:rPr>
              <a:t> – Create a virtual model of the industrial corridor to simulate pollution scenarios and understand the possible impact of different industrial activities. </a:t>
            </a:r>
            <a:endParaRPr lang="en-IN" sz="1600" dirty="0">
              <a:latin typeface="Arial(body)"/>
            </a:endParaRPr>
          </a:p>
          <a:p>
            <a:pPr lvl="0" algn="just">
              <a:lnSpc>
                <a:spcPct val="90000"/>
              </a:lnSpc>
            </a:pPr>
            <a:r>
              <a:rPr lang="en-IN" sz="1600" b="1" dirty="0">
                <a:latin typeface="Arial(body)"/>
              </a:rPr>
              <a:t>Automated Regulation</a:t>
            </a:r>
            <a:r>
              <a:rPr lang="en-IN" sz="1600" dirty="0">
                <a:latin typeface="Arial(body)"/>
              </a:rPr>
              <a:t> – Generate pollution evidence, compliance reports, and AI-based recommendations to help regulatory authorities review violations and take faster action. </a:t>
            </a:r>
            <a:endParaRPr lang="en-IN" sz="1600" dirty="0">
              <a:latin typeface="Arial(body)"/>
            </a:endParaRPr>
          </a:p>
          <a:p>
            <a:pPr lvl="0" algn="just">
              <a:lnSpc>
                <a:spcPct val="90000"/>
              </a:lnSpc>
            </a:pPr>
            <a:r>
              <a:rPr lang="en-IN" sz="1600" b="1" dirty="0">
                <a:latin typeface="Arial(body)"/>
              </a:rPr>
              <a:t>Mobile App</a:t>
            </a:r>
            <a:r>
              <a:rPr lang="en-IN" sz="1600" dirty="0">
                <a:latin typeface="Arial(body)"/>
              </a:rPr>
              <a:t> – Develop Android/iOS applications that allow inspectors, officers, and authorized users to monitor pollution data, alerts, violations, and reports from anywhere. </a:t>
            </a:r>
            <a:endParaRPr lang="en-IN" sz="1600" dirty="0">
              <a:latin typeface="Arial(body)"/>
            </a:endParaRPr>
          </a:p>
          <a:p>
            <a:pPr lvl="0" algn="just">
              <a:lnSpc>
                <a:spcPct val="90000"/>
              </a:lnSpc>
            </a:pPr>
            <a:r>
              <a:rPr lang="en-IN" sz="1600" b="1" dirty="0">
                <a:latin typeface="Arial(body)"/>
              </a:rPr>
              <a:t>Citizen Alerts</a:t>
            </a:r>
            <a:r>
              <a:rPr lang="en-IN" sz="1600" dirty="0">
                <a:latin typeface="Arial(body)"/>
              </a:rPr>
              <a:t> – Provide timely notifications through SMS, email, and mobile apps when critical pollution events may affect nearby communities. </a:t>
            </a:r>
            <a:endParaRPr lang="en-IN" sz="1600" dirty="0">
              <a:latin typeface="Arial(body)"/>
            </a:endParaRPr>
          </a:p>
          <a:p>
            <a:pPr lvl="0" algn="just">
              <a:lnSpc>
                <a:spcPct val="90000"/>
              </a:lnSpc>
            </a:pPr>
            <a:r>
              <a:rPr lang="en-IN" sz="1600" b="1" dirty="0">
                <a:latin typeface="Arial(body)"/>
              </a:rPr>
              <a:t>Advanced AI/ML</a:t>
            </a:r>
            <a:r>
              <a:rPr lang="en-IN" sz="1600" dirty="0">
                <a:latin typeface="Arial(body)"/>
              </a:rPr>
              <a:t> – Introduce advanced models for anomaly detection, pollution forecasting, source identification, pattern recognition, and environmental risk prediction. </a:t>
            </a:r>
            <a:endParaRPr lang="en-IN" sz="1600" dirty="0">
              <a:latin typeface="Arial(body)"/>
            </a:endParaRPr>
          </a:p>
          <a:p>
            <a:pPr lvl="0" algn="just">
              <a:lnSpc>
                <a:spcPct val="90000"/>
              </a:lnSpc>
            </a:pPr>
            <a:r>
              <a:rPr lang="en-IN" sz="1600" b="1" dirty="0">
                <a:latin typeface="Arial(body)"/>
              </a:rPr>
              <a:t>Computer Vision</a:t>
            </a:r>
            <a:r>
              <a:rPr lang="en-IN" sz="1600" dirty="0">
                <a:latin typeface="Arial(body)"/>
              </a:rPr>
              <a:t> – Use cameras with AI to identify visible smoke, industrial leakage, unauthorized discharge, and unusual emission activities. </a:t>
            </a:r>
            <a:endParaRPr lang="en-IN" sz="1600" dirty="0">
              <a:latin typeface="Arial(body)"/>
            </a:endParaRPr>
          </a:p>
          <a:p>
            <a:pPr lvl="0" algn="just">
              <a:lnSpc>
                <a:spcPct val="90000"/>
              </a:lnSpc>
            </a:pPr>
            <a:r>
              <a:rPr lang="en-IN" sz="1600" b="1" dirty="0">
                <a:latin typeface="Arial(body)"/>
              </a:rPr>
              <a:t>GIS Mapping</a:t>
            </a:r>
            <a:r>
              <a:rPr lang="en-IN" sz="1600" dirty="0">
                <a:latin typeface="Arial(body)"/>
              </a:rPr>
              <a:t> – Develop interactive GIS maps showing industry locations, sensor positions, pollution intensity, environmental risk zones, and affected areas across </a:t>
            </a:r>
            <a:r>
              <a:rPr lang="en-IN" sz="1600" b="1" dirty="0">
                <a:latin typeface="Arial(body)"/>
              </a:rPr>
              <a:t>Vapi–</a:t>
            </a:r>
            <a:r>
              <a:rPr lang="en-IN" sz="1600" b="1" dirty="0" err="1">
                <a:latin typeface="Arial(body)"/>
              </a:rPr>
              <a:t>Ankleshwar</a:t>
            </a:r>
            <a:r>
              <a:rPr lang="en-IN" sz="1600" b="1" dirty="0">
                <a:latin typeface="Arial(body)"/>
              </a:rPr>
              <a:t>–</a:t>
            </a:r>
            <a:r>
              <a:rPr lang="en-IN" sz="1600" b="1" dirty="0" err="1">
                <a:latin typeface="Arial(body)"/>
              </a:rPr>
              <a:t>Vatva</a:t>
            </a:r>
            <a:r>
              <a:rPr lang="en-IN" sz="1600" dirty="0">
                <a:latin typeface="Arial(body)"/>
              </a:rPr>
              <a:t>.</a:t>
            </a:r>
            <a:endParaRPr lang="en-IN" sz="1600" dirty="0">
              <a:latin typeface="Arial(body)"/>
            </a:endParaRPr>
          </a:p>
          <a:p>
            <a:pPr algn="just">
              <a:lnSpc>
                <a:spcPct val="90000"/>
              </a:lnSpc>
            </a:pPr>
            <a:endParaRPr lang="en-IN" sz="1600" dirty="0">
              <a:latin typeface="Arial(body)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6600" b="1" dirty="0">
                <a:latin typeface="Arial(heading)"/>
              </a:rPr>
              <a:t>15. Conclusion</a:t>
            </a:r>
            <a:endParaRPr lang="en-IN" sz="6600" dirty="0">
              <a:latin typeface="Arial(heading)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2768" y="116800"/>
            <a:ext cx="4767471" cy="125982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br>
              <a:rPr lang="en-IN" sz="2800" b="1" dirty="0">
                <a:latin typeface="Arial(heading)"/>
              </a:rPr>
            </a:br>
            <a:r>
              <a:rPr lang="en-IN" sz="2800" b="1" dirty="0">
                <a:latin typeface="Arial(heading)"/>
              </a:rPr>
              <a:t>Conclusion</a:t>
            </a:r>
            <a:br>
              <a:rPr lang="en-IN" sz="2800" b="1" dirty="0">
                <a:latin typeface="Arial(heading)"/>
              </a:rPr>
            </a:br>
            <a:endParaRPr lang="en-IN" sz="2800" dirty="0">
              <a:latin typeface="Arial(heading)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14271" r="47715"/>
          <a:stretch>
            <a:fillRect/>
          </a:stretch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2380" y="1617785"/>
            <a:ext cx="6464143" cy="490359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IN" b="1" dirty="0" err="1">
                <a:latin typeface="Arial(body)"/>
              </a:rPr>
              <a:t>EcoGuard</a:t>
            </a:r>
            <a:r>
              <a:rPr lang="en-IN" b="1" dirty="0">
                <a:latin typeface="Arial(body)"/>
              </a:rPr>
              <a:t> AI</a:t>
            </a:r>
            <a:r>
              <a:rPr lang="en-IN" dirty="0">
                <a:latin typeface="Arial(body)"/>
              </a:rPr>
              <a:t> provides an intelligent approach to industrial pollution monitoring by combining real-time sensor monitoring, automated violation detection, risk assessment, pollution investigation, regulatory alerts and IBM Granite-powered AI analysis.</a:t>
            </a:r>
            <a:endParaRPr lang="en-IN" dirty="0">
              <a:latin typeface="Arial(body)"/>
            </a:endParaRPr>
          </a:p>
          <a:p>
            <a:pPr>
              <a:lnSpc>
                <a:spcPct val="90000"/>
              </a:lnSpc>
            </a:pPr>
            <a:r>
              <a:rPr lang="en-IN" dirty="0">
                <a:latin typeface="Arial(body)"/>
              </a:rPr>
              <a:t>The six-agent architecture enables the system to move beyond passive visualization toward an </a:t>
            </a:r>
            <a:r>
              <a:rPr lang="en-IN" b="1" dirty="0">
                <a:latin typeface="Arial(body)"/>
              </a:rPr>
              <a:t>active environmental intelligence platform</a:t>
            </a:r>
            <a:r>
              <a:rPr lang="en-IN" dirty="0">
                <a:latin typeface="Arial(body)"/>
              </a:rPr>
              <a:t>.</a:t>
            </a:r>
            <a:endParaRPr lang="en-IN" dirty="0">
              <a:latin typeface="Arial(body)"/>
            </a:endParaRPr>
          </a:p>
          <a:p>
            <a:pPr>
              <a:lnSpc>
                <a:spcPct val="90000"/>
              </a:lnSpc>
            </a:pPr>
            <a:r>
              <a:rPr lang="en-IN" dirty="0">
                <a:latin typeface="Arial(body)"/>
              </a:rPr>
              <a:t>The solution can help authorities identify pollution events faster, prioritize high-risk incidents, reduce manual monitoring effort and generate AI-assisted compliance documentation.</a:t>
            </a:r>
            <a:endParaRPr lang="en-IN" dirty="0">
              <a:latin typeface="Arial(body)"/>
            </a:endParaRPr>
          </a:p>
          <a:p>
            <a:pPr>
              <a:lnSpc>
                <a:spcPct val="90000"/>
              </a:lnSpc>
            </a:pPr>
            <a:r>
              <a:rPr lang="en-IN" dirty="0">
                <a:latin typeface="Arial(body)"/>
              </a:rPr>
              <a:t>With future integration of real IoT devices, machine-learning forecasting, GIS, satellite data, computer vision and </a:t>
            </a:r>
            <a:r>
              <a:rPr lang="en-IN" sz="2400" dirty="0">
                <a:latin typeface="Arial(body)"/>
              </a:rPr>
              <a:t>government</a:t>
            </a:r>
            <a:r>
              <a:rPr lang="en-IN" dirty="0">
                <a:latin typeface="Arial(body)"/>
              </a:rPr>
              <a:t> systems, </a:t>
            </a:r>
            <a:r>
              <a:rPr lang="en-IN" dirty="0" err="1">
                <a:latin typeface="Arial(body)"/>
              </a:rPr>
              <a:t>EcoGuard</a:t>
            </a:r>
            <a:r>
              <a:rPr lang="en-IN" dirty="0">
                <a:latin typeface="Arial(body)"/>
              </a:rPr>
              <a:t> AI can evolve into a scalable environmental monitoring platform for industrial corridors across Gujarat and India</a:t>
            </a:r>
            <a:endParaRPr lang="en-IN" dirty="0">
              <a:latin typeface="Arial(body)"/>
            </a:endParaRPr>
          </a:p>
          <a:p>
            <a:pPr marL="0" indent="0">
              <a:lnSpc>
                <a:spcPct val="90000"/>
              </a:lnSpc>
              <a:buNone/>
            </a:pPr>
            <a:endParaRPr lang="en-IN" dirty="0">
              <a:latin typeface="Arial(body)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4" name="Picture 33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6" name="Oval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8" name="Picture 37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0" name="Picture 39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2" name="Rectangl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4" name="Rectangle 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5967" y="1325880"/>
            <a:ext cx="4158334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i="0" kern="1200" dirty="0">
                <a:solidFill>
                  <a:srgbClr val="EBEBEB"/>
                </a:solidFill>
                <a:latin typeface="Arial(heading)"/>
              </a:rPr>
              <a:t>Getting Started with artificial intelligence </a:t>
            </a:r>
            <a:r>
              <a:rPr lang="en-US" sz="2800" b="1" i="0" kern="1200" dirty="0" err="1">
                <a:solidFill>
                  <a:srgbClr val="EBEBEB"/>
                </a:solidFill>
                <a:latin typeface="Arial(heading)"/>
              </a:rPr>
              <a:t>credly</a:t>
            </a:r>
            <a:r>
              <a:rPr lang="en-US" sz="2800" b="1" i="0" kern="1200" dirty="0">
                <a:solidFill>
                  <a:srgbClr val="EBEBEB"/>
                </a:solidFill>
                <a:latin typeface="Arial(heading)"/>
              </a:rPr>
              <a:t> certificate </a:t>
            </a:r>
            <a:endParaRPr lang="en-US" sz="2800" b="1" i="0" kern="1200" dirty="0">
              <a:solidFill>
                <a:srgbClr val="EBEBEB"/>
              </a:solidFill>
              <a:latin typeface="Arial(heading)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7385967" y="4588329"/>
            <a:ext cx="4158334" cy="162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400" b="1" cap="all" dirty="0">
                <a:solidFill>
                  <a:schemeClr val="tx2">
                    <a:lumMod val="40000"/>
                    <a:lumOff val="60000"/>
                  </a:schemeClr>
                </a:solidFill>
                <a:latin typeface="Arial(heading)"/>
              </a:rPr>
              <a:t>Certificates Earned:</a:t>
            </a:r>
            <a:endParaRPr lang="en-US" sz="2400" b="1" cap="all" dirty="0">
              <a:solidFill>
                <a:schemeClr val="tx2">
                  <a:lumMod val="40000"/>
                  <a:lumOff val="60000"/>
                </a:schemeClr>
              </a:solidFill>
              <a:latin typeface="Arial(heading)"/>
            </a:endParaRPr>
          </a:p>
        </p:txBody>
      </p:sp>
      <p:sp>
        <p:nvSpPr>
          <p:cNvPr id="46" name="Freeform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Freeform: Shape 4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 rot="5400000" flipH="1">
            <a:off x="68960" y="-68960"/>
            <a:ext cx="6858001" cy="6995918"/>
          </a:xfrm>
          <a:custGeom>
            <a:avLst/>
            <a:gdLst>
              <a:gd name="connsiteX0" fmla="*/ 6858001 w 6858001"/>
              <a:gd name="connsiteY0" fmla="*/ 1344715 h 6995918"/>
              <a:gd name="connsiteX1" fmla="*/ 6858001 w 6858001"/>
              <a:gd name="connsiteY1" fmla="*/ 1177 h 6995918"/>
              <a:gd name="connsiteX2" fmla="*/ 6702324 w 6858001"/>
              <a:gd name="connsiteY2" fmla="*/ 26222 h 6995918"/>
              <a:gd name="connsiteX3" fmla="*/ 6547333 w 6858001"/>
              <a:gd name="connsiteY3" fmla="*/ 50091 h 6995918"/>
              <a:gd name="connsiteX4" fmla="*/ 6391657 w 6858001"/>
              <a:gd name="connsiteY4" fmla="*/ 73455 h 6995918"/>
              <a:gd name="connsiteX5" fmla="*/ 6235294 w 6858001"/>
              <a:gd name="connsiteY5" fmla="*/ 93458 h 6995918"/>
              <a:gd name="connsiteX6" fmla="*/ 6079618 w 6858001"/>
              <a:gd name="connsiteY6" fmla="*/ 113629 h 6995918"/>
              <a:gd name="connsiteX7" fmla="*/ 5923255 w 6858001"/>
              <a:gd name="connsiteY7" fmla="*/ 132455 h 6995918"/>
              <a:gd name="connsiteX8" fmla="*/ 5768950 w 6858001"/>
              <a:gd name="connsiteY8" fmla="*/ 148591 h 6995918"/>
              <a:gd name="connsiteX9" fmla="*/ 5612588 w 6858001"/>
              <a:gd name="connsiteY9" fmla="*/ 163887 h 6995918"/>
              <a:gd name="connsiteX10" fmla="*/ 5456911 w 6858001"/>
              <a:gd name="connsiteY10" fmla="*/ 177839 h 6995918"/>
              <a:gd name="connsiteX11" fmla="*/ 5303978 w 6858001"/>
              <a:gd name="connsiteY11" fmla="*/ 189941 h 6995918"/>
              <a:gd name="connsiteX12" fmla="*/ 5148987 w 6858001"/>
              <a:gd name="connsiteY12" fmla="*/ 202044 h 6995918"/>
              <a:gd name="connsiteX13" fmla="*/ 4996054 w 6858001"/>
              <a:gd name="connsiteY13" fmla="*/ 212129 h 6995918"/>
              <a:gd name="connsiteX14" fmla="*/ 4843120 w 6858001"/>
              <a:gd name="connsiteY14" fmla="*/ 220029 h 6995918"/>
              <a:gd name="connsiteX15" fmla="*/ 4690873 w 6858001"/>
              <a:gd name="connsiteY15" fmla="*/ 228266 h 6995918"/>
              <a:gd name="connsiteX16" fmla="*/ 4539997 w 6858001"/>
              <a:gd name="connsiteY16" fmla="*/ 235157 h 6995918"/>
              <a:gd name="connsiteX17" fmla="*/ 4390492 w 6858001"/>
              <a:gd name="connsiteY17" fmla="*/ 240032 h 6995918"/>
              <a:gd name="connsiteX18" fmla="*/ 4240988 w 6858001"/>
              <a:gd name="connsiteY18" fmla="*/ 244234 h 6995918"/>
              <a:gd name="connsiteX19" fmla="*/ 4092855 w 6858001"/>
              <a:gd name="connsiteY19" fmla="*/ 248268 h 6995918"/>
              <a:gd name="connsiteX20" fmla="*/ 3946780 w 6858001"/>
              <a:gd name="connsiteY20" fmla="*/ 250117 h 6995918"/>
              <a:gd name="connsiteX21" fmla="*/ 3800704 w 6858001"/>
              <a:gd name="connsiteY21" fmla="*/ 252134 h 6995918"/>
              <a:gd name="connsiteX22" fmla="*/ 3656686 w 6858001"/>
              <a:gd name="connsiteY22" fmla="*/ 253143 h 6995918"/>
              <a:gd name="connsiteX23" fmla="*/ 3514040 w 6858001"/>
              <a:gd name="connsiteY23" fmla="*/ 252134 h 6995918"/>
              <a:gd name="connsiteX24" fmla="*/ 3372765 w 6858001"/>
              <a:gd name="connsiteY24" fmla="*/ 252134 h 6995918"/>
              <a:gd name="connsiteX25" fmla="*/ 3232862 w 6858001"/>
              <a:gd name="connsiteY25" fmla="*/ 250117 h 6995918"/>
              <a:gd name="connsiteX26" fmla="*/ 3095702 w 6858001"/>
              <a:gd name="connsiteY26" fmla="*/ 247092 h 6995918"/>
              <a:gd name="connsiteX27" fmla="*/ 2959914 w 6858001"/>
              <a:gd name="connsiteY27" fmla="*/ 244234 h 6995918"/>
              <a:gd name="connsiteX28" fmla="*/ 2826868 w 6858001"/>
              <a:gd name="connsiteY28" fmla="*/ 241040 h 6995918"/>
              <a:gd name="connsiteX29" fmla="*/ 2694509 w 6858001"/>
              <a:gd name="connsiteY29" fmla="*/ 236166 h 6995918"/>
              <a:gd name="connsiteX30" fmla="*/ 2564208 w 6858001"/>
              <a:gd name="connsiteY30" fmla="*/ 230955 h 6995918"/>
              <a:gd name="connsiteX31" fmla="*/ 2436649 w 6858001"/>
              <a:gd name="connsiteY31" fmla="*/ 226249 h 6995918"/>
              <a:gd name="connsiteX32" fmla="*/ 2187703 w 6858001"/>
              <a:gd name="connsiteY32" fmla="*/ 212969 h 6995918"/>
              <a:gd name="connsiteX33" fmla="*/ 1949045 w 6858001"/>
              <a:gd name="connsiteY33" fmla="*/ 198850 h 6995918"/>
              <a:gd name="connsiteX34" fmla="*/ 1719988 w 6858001"/>
              <a:gd name="connsiteY34" fmla="*/ 184058 h 6995918"/>
              <a:gd name="connsiteX35" fmla="*/ 1503275 w 6858001"/>
              <a:gd name="connsiteY35" fmla="*/ 167753 h 6995918"/>
              <a:gd name="connsiteX36" fmla="*/ 1296163 w 6858001"/>
              <a:gd name="connsiteY36" fmla="*/ 150776 h 6995918"/>
              <a:gd name="connsiteX37" fmla="*/ 1104139 w 6858001"/>
              <a:gd name="connsiteY37" fmla="*/ 132455 h 6995918"/>
              <a:gd name="connsiteX38" fmla="*/ 923774 w 6858001"/>
              <a:gd name="connsiteY38" fmla="*/ 114469 h 6995918"/>
              <a:gd name="connsiteX39" fmla="*/ 757810 w 6858001"/>
              <a:gd name="connsiteY39" fmla="*/ 96484 h 6995918"/>
              <a:gd name="connsiteX40" fmla="*/ 605563 w 6858001"/>
              <a:gd name="connsiteY40" fmla="*/ 79507 h 6995918"/>
              <a:gd name="connsiteX41" fmla="*/ 470460 w 6858001"/>
              <a:gd name="connsiteY41" fmla="*/ 63370 h 6995918"/>
              <a:gd name="connsiteX42" fmla="*/ 348388 w 6858001"/>
              <a:gd name="connsiteY42" fmla="*/ 48074 h 6995918"/>
              <a:gd name="connsiteX43" fmla="*/ 245518 w 6858001"/>
              <a:gd name="connsiteY43" fmla="*/ 35299 h 6995918"/>
              <a:gd name="connsiteX44" fmla="*/ 159107 w 6858001"/>
              <a:gd name="connsiteY44" fmla="*/ 23197 h 6995918"/>
              <a:gd name="connsiteX45" fmla="*/ 40463 w 6858001"/>
              <a:gd name="connsiteY45" fmla="*/ 5883 h 6995918"/>
              <a:gd name="connsiteX46" fmla="*/ 1 w 6858001"/>
              <a:gd name="connsiteY46" fmla="*/ 0 h 6995918"/>
              <a:gd name="connsiteX47" fmla="*/ 1 w 6858001"/>
              <a:gd name="connsiteY47" fmla="*/ 905354 h 6995918"/>
              <a:gd name="connsiteX48" fmla="*/ 0 w 6858001"/>
              <a:gd name="connsiteY48" fmla="*/ 905354 h 6995918"/>
              <a:gd name="connsiteX49" fmla="*/ 0 w 6858001"/>
              <a:gd name="connsiteY49" fmla="*/ 6995918 h 6995918"/>
              <a:gd name="connsiteX50" fmla="*/ 6858000 w 6858001"/>
              <a:gd name="connsiteY50" fmla="*/ 6995918 h 6995918"/>
              <a:gd name="connsiteX51" fmla="*/ 6858000 w 6858001"/>
              <a:gd name="connsiteY51" fmla="*/ 1344715 h 699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95918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0" name="Rectangle 4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" name="Picture 2" descr="Screenshot (157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" y="1422400"/>
            <a:ext cx="6520180" cy="448437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5" name="Picture 1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5966" y="2592475"/>
            <a:ext cx="4424195" cy="19033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b="1" i="0" kern="1200" dirty="0">
                <a:solidFill>
                  <a:srgbClr val="EBEBEB"/>
                </a:solidFill>
                <a:latin typeface="Arial(heading)"/>
              </a:rPr>
              <a:t>IBM BOB Certificate</a:t>
            </a:r>
            <a:br>
              <a:rPr lang="en-US" sz="2800" b="1" i="0" kern="1200" dirty="0">
                <a:solidFill>
                  <a:srgbClr val="EBEBEB"/>
                </a:solidFill>
                <a:latin typeface="Arial(heading)"/>
              </a:rPr>
            </a:br>
            <a:endParaRPr lang="en-US" sz="2800" b="1" i="0" kern="1200" dirty="0">
              <a:solidFill>
                <a:srgbClr val="EBEBEB"/>
              </a:solidFill>
              <a:latin typeface="Arial(heading)"/>
            </a:endParaRPr>
          </a:p>
        </p:txBody>
      </p:sp>
      <p:sp>
        <p:nvSpPr>
          <p:cNvPr id="23" name="Freeform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 rot="5400000" flipH="1">
            <a:off x="68960" y="-68960"/>
            <a:ext cx="6858001" cy="6995918"/>
          </a:xfrm>
          <a:custGeom>
            <a:avLst/>
            <a:gdLst>
              <a:gd name="connsiteX0" fmla="*/ 6858001 w 6858001"/>
              <a:gd name="connsiteY0" fmla="*/ 1344715 h 6995918"/>
              <a:gd name="connsiteX1" fmla="*/ 6858001 w 6858001"/>
              <a:gd name="connsiteY1" fmla="*/ 1177 h 6995918"/>
              <a:gd name="connsiteX2" fmla="*/ 6702324 w 6858001"/>
              <a:gd name="connsiteY2" fmla="*/ 26222 h 6995918"/>
              <a:gd name="connsiteX3" fmla="*/ 6547333 w 6858001"/>
              <a:gd name="connsiteY3" fmla="*/ 50091 h 6995918"/>
              <a:gd name="connsiteX4" fmla="*/ 6391657 w 6858001"/>
              <a:gd name="connsiteY4" fmla="*/ 73455 h 6995918"/>
              <a:gd name="connsiteX5" fmla="*/ 6235294 w 6858001"/>
              <a:gd name="connsiteY5" fmla="*/ 93458 h 6995918"/>
              <a:gd name="connsiteX6" fmla="*/ 6079618 w 6858001"/>
              <a:gd name="connsiteY6" fmla="*/ 113629 h 6995918"/>
              <a:gd name="connsiteX7" fmla="*/ 5923255 w 6858001"/>
              <a:gd name="connsiteY7" fmla="*/ 132455 h 6995918"/>
              <a:gd name="connsiteX8" fmla="*/ 5768950 w 6858001"/>
              <a:gd name="connsiteY8" fmla="*/ 148591 h 6995918"/>
              <a:gd name="connsiteX9" fmla="*/ 5612588 w 6858001"/>
              <a:gd name="connsiteY9" fmla="*/ 163887 h 6995918"/>
              <a:gd name="connsiteX10" fmla="*/ 5456911 w 6858001"/>
              <a:gd name="connsiteY10" fmla="*/ 177839 h 6995918"/>
              <a:gd name="connsiteX11" fmla="*/ 5303978 w 6858001"/>
              <a:gd name="connsiteY11" fmla="*/ 189941 h 6995918"/>
              <a:gd name="connsiteX12" fmla="*/ 5148987 w 6858001"/>
              <a:gd name="connsiteY12" fmla="*/ 202044 h 6995918"/>
              <a:gd name="connsiteX13" fmla="*/ 4996054 w 6858001"/>
              <a:gd name="connsiteY13" fmla="*/ 212129 h 6995918"/>
              <a:gd name="connsiteX14" fmla="*/ 4843120 w 6858001"/>
              <a:gd name="connsiteY14" fmla="*/ 220029 h 6995918"/>
              <a:gd name="connsiteX15" fmla="*/ 4690873 w 6858001"/>
              <a:gd name="connsiteY15" fmla="*/ 228266 h 6995918"/>
              <a:gd name="connsiteX16" fmla="*/ 4539997 w 6858001"/>
              <a:gd name="connsiteY16" fmla="*/ 235157 h 6995918"/>
              <a:gd name="connsiteX17" fmla="*/ 4390492 w 6858001"/>
              <a:gd name="connsiteY17" fmla="*/ 240032 h 6995918"/>
              <a:gd name="connsiteX18" fmla="*/ 4240988 w 6858001"/>
              <a:gd name="connsiteY18" fmla="*/ 244234 h 6995918"/>
              <a:gd name="connsiteX19" fmla="*/ 4092855 w 6858001"/>
              <a:gd name="connsiteY19" fmla="*/ 248268 h 6995918"/>
              <a:gd name="connsiteX20" fmla="*/ 3946780 w 6858001"/>
              <a:gd name="connsiteY20" fmla="*/ 250117 h 6995918"/>
              <a:gd name="connsiteX21" fmla="*/ 3800704 w 6858001"/>
              <a:gd name="connsiteY21" fmla="*/ 252134 h 6995918"/>
              <a:gd name="connsiteX22" fmla="*/ 3656686 w 6858001"/>
              <a:gd name="connsiteY22" fmla="*/ 253143 h 6995918"/>
              <a:gd name="connsiteX23" fmla="*/ 3514040 w 6858001"/>
              <a:gd name="connsiteY23" fmla="*/ 252134 h 6995918"/>
              <a:gd name="connsiteX24" fmla="*/ 3372765 w 6858001"/>
              <a:gd name="connsiteY24" fmla="*/ 252134 h 6995918"/>
              <a:gd name="connsiteX25" fmla="*/ 3232862 w 6858001"/>
              <a:gd name="connsiteY25" fmla="*/ 250117 h 6995918"/>
              <a:gd name="connsiteX26" fmla="*/ 3095702 w 6858001"/>
              <a:gd name="connsiteY26" fmla="*/ 247092 h 6995918"/>
              <a:gd name="connsiteX27" fmla="*/ 2959914 w 6858001"/>
              <a:gd name="connsiteY27" fmla="*/ 244234 h 6995918"/>
              <a:gd name="connsiteX28" fmla="*/ 2826868 w 6858001"/>
              <a:gd name="connsiteY28" fmla="*/ 241040 h 6995918"/>
              <a:gd name="connsiteX29" fmla="*/ 2694509 w 6858001"/>
              <a:gd name="connsiteY29" fmla="*/ 236166 h 6995918"/>
              <a:gd name="connsiteX30" fmla="*/ 2564208 w 6858001"/>
              <a:gd name="connsiteY30" fmla="*/ 230955 h 6995918"/>
              <a:gd name="connsiteX31" fmla="*/ 2436649 w 6858001"/>
              <a:gd name="connsiteY31" fmla="*/ 226249 h 6995918"/>
              <a:gd name="connsiteX32" fmla="*/ 2187703 w 6858001"/>
              <a:gd name="connsiteY32" fmla="*/ 212969 h 6995918"/>
              <a:gd name="connsiteX33" fmla="*/ 1949045 w 6858001"/>
              <a:gd name="connsiteY33" fmla="*/ 198850 h 6995918"/>
              <a:gd name="connsiteX34" fmla="*/ 1719988 w 6858001"/>
              <a:gd name="connsiteY34" fmla="*/ 184058 h 6995918"/>
              <a:gd name="connsiteX35" fmla="*/ 1503275 w 6858001"/>
              <a:gd name="connsiteY35" fmla="*/ 167753 h 6995918"/>
              <a:gd name="connsiteX36" fmla="*/ 1296163 w 6858001"/>
              <a:gd name="connsiteY36" fmla="*/ 150776 h 6995918"/>
              <a:gd name="connsiteX37" fmla="*/ 1104139 w 6858001"/>
              <a:gd name="connsiteY37" fmla="*/ 132455 h 6995918"/>
              <a:gd name="connsiteX38" fmla="*/ 923774 w 6858001"/>
              <a:gd name="connsiteY38" fmla="*/ 114469 h 6995918"/>
              <a:gd name="connsiteX39" fmla="*/ 757810 w 6858001"/>
              <a:gd name="connsiteY39" fmla="*/ 96484 h 6995918"/>
              <a:gd name="connsiteX40" fmla="*/ 605563 w 6858001"/>
              <a:gd name="connsiteY40" fmla="*/ 79507 h 6995918"/>
              <a:gd name="connsiteX41" fmla="*/ 470460 w 6858001"/>
              <a:gd name="connsiteY41" fmla="*/ 63370 h 6995918"/>
              <a:gd name="connsiteX42" fmla="*/ 348388 w 6858001"/>
              <a:gd name="connsiteY42" fmla="*/ 48074 h 6995918"/>
              <a:gd name="connsiteX43" fmla="*/ 245518 w 6858001"/>
              <a:gd name="connsiteY43" fmla="*/ 35299 h 6995918"/>
              <a:gd name="connsiteX44" fmla="*/ 159107 w 6858001"/>
              <a:gd name="connsiteY44" fmla="*/ 23197 h 6995918"/>
              <a:gd name="connsiteX45" fmla="*/ 40463 w 6858001"/>
              <a:gd name="connsiteY45" fmla="*/ 5883 h 6995918"/>
              <a:gd name="connsiteX46" fmla="*/ 1 w 6858001"/>
              <a:gd name="connsiteY46" fmla="*/ 0 h 6995918"/>
              <a:gd name="connsiteX47" fmla="*/ 1 w 6858001"/>
              <a:gd name="connsiteY47" fmla="*/ 905354 h 6995918"/>
              <a:gd name="connsiteX48" fmla="*/ 0 w 6858001"/>
              <a:gd name="connsiteY48" fmla="*/ 905354 h 6995918"/>
              <a:gd name="connsiteX49" fmla="*/ 0 w 6858001"/>
              <a:gd name="connsiteY49" fmla="*/ 6995918 h 6995918"/>
              <a:gd name="connsiteX50" fmla="*/ 6858000 w 6858001"/>
              <a:gd name="connsiteY50" fmla="*/ 6995918 h 6995918"/>
              <a:gd name="connsiteX51" fmla="*/ 6858000 w 6858001"/>
              <a:gd name="connsiteY51" fmla="*/ 1344715 h 699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95918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" name="Picture 2" descr="Screenshot (152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755" y="1410335"/>
            <a:ext cx="6147435" cy="397319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3171" y="2930559"/>
            <a:ext cx="8825657" cy="1915647"/>
          </a:xfrm>
        </p:spPr>
        <p:txBody>
          <a:bodyPr/>
          <a:lstStyle/>
          <a:p>
            <a:pPr algn="ctr"/>
            <a:r>
              <a:rPr lang="en-US" sz="11500" dirty="0">
                <a:ln w="0"/>
                <a:solidFill>
                  <a:schemeClr val="tx1">
                    <a:lumMod val="9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rial(heading)"/>
              </a:rPr>
              <a:t>Thank you</a:t>
            </a:r>
            <a:endParaRPr lang="en-IN" sz="11500" dirty="0">
              <a:ln w="0"/>
              <a:solidFill>
                <a:schemeClr val="tx1">
                  <a:lumMod val="95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Arial(heading)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advClick="0" advTm="5000">
        <p14:reveal/>
      </p:transition>
    </mc:Choice>
    <mc:Fallback>
      <p:transition advClick="0" advTm="500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10574</Words>
  <Application>WPS Presentation</Application>
  <PresentationFormat>Widescreen</PresentationFormat>
  <Paragraphs>199</Paragraphs>
  <Slides>67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83" baseType="lpstr">
      <vt:lpstr>Arial</vt:lpstr>
      <vt:lpstr>SimSun</vt:lpstr>
      <vt:lpstr>Wingdings</vt:lpstr>
      <vt:lpstr>Wingdings 3</vt:lpstr>
      <vt:lpstr>Arial</vt:lpstr>
      <vt:lpstr>Arial(heading)</vt:lpstr>
      <vt:lpstr>Times New Roman</vt:lpstr>
      <vt:lpstr>Calibri</vt:lpstr>
      <vt:lpstr>Arial(body)</vt:lpstr>
      <vt:lpstr>Century Gothic</vt:lpstr>
      <vt:lpstr>Microsoft YaHei</vt:lpstr>
      <vt:lpstr>Arial Unicode MS</vt:lpstr>
      <vt:lpstr>Aptos</vt:lpstr>
      <vt:lpstr>Segoe UI</vt:lpstr>
      <vt:lpstr>Arial (Body)</vt:lpstr>
      <vt:lpstr>Ion</vt:lpstr>
      <vt:lpstr>IBM University Engagement Project Submission</vt:lpstr>
      <vt:lpstr>Project Title – [Challenge 9 – Smart Industrial Pollution Monitoring for Golden Corridor (Vapi– Ankleswar) ] </vt:lpstr>
      <vt:lpstr> 1. Problem Statement</vt:lpstr>
      <vt:lpstr>Problem Statement – Industrial Pollution Monitoring </vt:lpstr>
      <vt:lpstr>2. The Challenge /The Objective </vt:lpstr>
      <vt:lpstr>Challenge 9: Smart Industrial Pollution Monitoring for Golden Corridor (Vapi–Ankleshwar) </vt:lpstr>
      <vt:lpstr>3.Proposed Solution</vt:lpstr>
      <vt:lpstr> Proposed Solution</vt:lpstr>
      <vt:lpstr>4.Technology Used</vt:lpstr>
      <vt:lpstr> Technology Used </vt:lpstr>
      <vt:lpstr>5.Langflow Components Used</vt:lpstr>
      <vt:lpstr>Langflow Components Used</vt:lpstr>
      <vt:lpstr>6.Langflow workflow </vt:lpstr>
      <vt:lpstr>PowerPoint 演示文稿</vt:lpstr>
      <vt:lpstr>7.Architecture blueprint</vt:lpstr>
      <vt:lpstr>PowerPoint 演示文稿</vt:lpstr>
      <vt:lpstr>8.Role of Agentic AI in the solution </vt:lpstr>
      <vt:lpstr>Role of Agentic AI in the solution </vt:lpstr>
      <vt:lpstr>9.Novelty and Uniqueness</vt:lpstr>
      <vt:lpstr>Novelty and Uniqueness </vt:lpstr>
      <vt:lpstr>10. Six Agentic AI Agents </vt:lpstr>
      <vt:lpstr>Six Agentic AI Agents </vt:lpstr>
      <vt:lpstr>11.Dashboard Demonstration Flow</vt:lpstr>
      <vt:lpstr>  Dashboard Demonstration Flow</vt:lpstr>
      <vt:lpstr>12. Git Hub Link</vt:lpstr>
      <vt:lpstr>13. “EcoGuard AI – Project Demonstration &amp; UI”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14. Future Scope</vt:lpstr>
      <vt:lpstr> Future Scope</vt:lpstr>
      <vt:lpstr>15. Conclusion</vt:lpstr>
      <vt:lpstr> Conclusion </vt:lpstr>
      <vt:lpstr>Getting Started with artificial intelligence credly certificate </vt:lpstr>
      <vt:lpstr>IBM BOB Certificate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Harshdi Bhalara</dc:creator>
  <cp:lastModifiedBy>WPS_1785498317</cp:lastModifiedBy>
  <cp:revision>38</cp:revision>
  <dcterms:created xsi:type="dcterms:W3CDTF">2026-09-04T17:57:00Z</dcterms:created>
  <dcterms:modified xsi:type="dcterms:W3CDTF">2026-09-06T09:02:06Z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2CD754849476484A8A91EA7FF50CDD38_13</vt:lpwstr>
  </property>
</Properties>
</file>